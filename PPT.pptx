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varScale="1">
        <p:scale>
          <a:sx n="82" d="100"/>
          <a:sy n="82" d="100"/>
        </p:scale>
        <p:origin x="691"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9T19:54:00.048"/>
    </inkml:context>
    <inkml:brush xml:id="br0">
      <inkml:brushProperty name="width" value="0.035" units="cm"/>
      <inkml:brushProperty name="height" value="0.035" units="cm"/>
      <inkml:brushProperty name="color" value="#FFFFFF"/>
    </inkml:brush>
  </inkml:definitions>
  <inkml:trace contextRef="#ctx0" brushRef="#br0">1 2 24575,'74'-1'0,"85"3"0,-153-1 0,-1 0 0,1 0 0,-1 1 0,1-1 0,-1 1 0,0 1 0,0-1 0,0 1 0,0 0 0,0 0 0,-1 0 0,9 8 0,29 18 0,-33-26 0,0 0 0,0 0 0,0 0 0,0-2 0,0 1 0,1-1 0,8 0 0,73-3 0,-43 0 0,-38 1 0,42 3 0,-51-2 0,1-1 0,-1 2 0,0-1 0,1 0 0,-1 0 0,0 0 0,0 1 0,1-1 0,-1 0 0,0 1 0,0 0 0,1-1 0,-1 1 0,0 0 0,0-1 0,0 1 0,0 0 0,0 0 0,0 0 0,0 0 0,0 0 0,-1 0 0,1 0 0,0 0 0,0 0 0,-1 0 0,1 0 0,-1 1 0,1-1 0,0 3 0,-2-3 0,1 1 0,0-1 0,-1 0 0,1 1 0,-1-1 0,0 1 0,1-1 0,-1 0 0,0 0 0,0 1 0,0-1 0,0 0 0,0 0 0,0 0 0,0 0 0,0 0 0,0 0 0,-1 0 0,1 0 0,0-1 0,-1 1 0,1 0 0,0-1 0,-3 1 0,-41 13 0,38-13 0,-75 19 0,-2-4 0,0-4 0,-156 3 0,236-15 0,-1 0 0,1 0 0,0-1 0,-1 0 0,1 1 0,0-2 0,0 1 0,0 0 0,-7-4 0,10 5 0,1-1 0,-1 1 0,0-1 0,1 1 0,-1-1 0,0 1 0,1-1 0,-1 0 0,1 1 0,-1-1 0,1 0 0,-1 0 0,1 1 0,0-1 0,-1 0 0,1 0 0,0 0 0,0 0 0,-1 1 0,1-3 0,0 1 0,0 1 0,1-1 0,-1 0 0,1 0 0,-1 0 0,1 1 0,0-1 0,-1 0 0,1 1 0,0-1 0,0 1 0,0-1 0,3-2 0,12-14-455,1 0 0,34-26 0,-21 21-6371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9T19:54:06.49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9T19:54:11.588"/>
    </inkml:context>
    <inkml:brush xml:id="br0">
      <inkml:brushProperty name="width" value="0.35" units="cm"/>
      <inkml:brushProperty name="height" value="0.35" units="cm"/>
      <inkml:brushProperty name="color" value="#FFFFFF"/>
    </inkml:brush>
  </inkml:definitions>
  <inkml:trace contextRef="#ctx0" brushRef="#br0">132 203 24575,'-2'45'0,"-3"0"0,-20 84 0,6-35 0,15-76 0,-1-1 0,-15 34 0,3-8 0,-12 30 0,24-115 0,7-562 0,-3 599 0,2 0 0,-1 0 0,0 0 0,1 0 0,0 0 0,0 1 0,1-1 0,3-8 0,-5 12 0,1-1 0,0 1 0,-1 0 0,1 0 0,0 0 0,0 1 0,0-1 0,0 0 0,0 0 0,0 0 0,0 1 0,0-1 0,0 0 0,1 1 0,-1-1 0,0 1 0,0 0 0,0-1 0,1 1 0,-1 0 0,0 0 0,1 0 0,-1 0 0,0 0 0,0 0 0,1 0 0,-1 0 0,0 0 0,1 1 0,-1-1 0,0 0 0,0 1 0,0-1 0,1 1 0,-1-1 0,0 1 0,0 0 0,2 1 0,11 5 0,2-1 0,-1 0 0,0-1 0,1-1 0,0 0 0,0-2 0,22 2 0,119-4 0,-73-2 0,-30 2 0,84-3 0,-118 1 0,-1 0 0,1-2 0,-1 0 0,37-15 0,-49 17 0,0-1 0,0 1 0,0 0 0,0 1 0,0-1 0,0 1 0,0 1 0,11 0 0,-17 0 0,1 0 0,-1 0 0,1 0 0,-1 1 0,1-1 0,-1 1 0,0-1 0,1 1 0,-1-1 0,0 1 0,0 0 0,1 0 0,-1-1 0,0 1 0,0 0 0,0 0 0,0 0 0,2 3 0,-2-3 0,-1 1 0,1 0 0,0 0 0,-1 0 0,0 0 0,1 0 0,-1 0 0,0 0 0,0 0 0,0 0 0,0 0 0,0 0 0,-1 0 0,1 0 0,-1 0 0,1 0 0,-2 3 0,-1 3 0,-1 1 0,0-2 0,0 1 0,-1 0 0,-5 6 0,4-6 0,0 1 0,1-1 0,-8 18 0,5-1 0,2 0 0,0 0 0,1 1 0,-1 51 0,4-53 0,-3 8 0,-1 0 0,-2-1 0,-1 0 0,-1 0 0,-1-1 0,-2 0 0,-22 36 0,35-65 0,-1 0 0,1 1 0,0-1 0,-1 0 0,0 0 0,1 0 0,-1 0 0,0 0 0,1 0 0,-1 0 0,0 0 0,0 0 0,0-1 0,0 1 0,0 0 0,0 0 0,0-1 0,0 1 0,0 0 0,0-1 0,0 0 0,-2 1 0,3-1 0,-1-1 0,0 1 0,0-1 0,1 0 0,-1 1 0,0-1 0,1 0 0,-1 0 0,1 0 0,-1 1 0,1-1 0,-1 0 0,1 0 0,0 0 0,-1 0 0,1 0 0,0 0 0,0 0 0,0 0 0,0-1 0,-4-65 0,4 63 0,0-6 0,2-8 0,-2 0 0,0 0 0,-1 0 0,-1 0 0,-1 1 0,0-1 0,-2 0 0,1 1 0,-11-22 0,11 30 0,-6-7 0,9 16 0,1 1 0,-1-1 0,0 1 0,1-1 0,-1 1 0,0-1 0,1 1 0,-1 0 0,1-1 0,-1 1 0,1-1 0,-1 1 0,1 0 0,-1 0 0,1-1 0,0 1 0,0 0 0,-1 0 0,1 0 0,0-1 0,0 1 0,0 0 0,0 0 0,0 1 0,-7 24 0,1 1 0,1-1 0,-1 50 0,7 84 0,2-57 0,-3-64 0,-1 49 0,1-87 0,0 0 0,0 0 0,0 0 0,0 0 0,0 0 0,0 1 0,0-1 0,-1 0 0,1 0 0,0 0 0,-1 0 0,1-1 0,0 1 0,-1 0 0,1 0 0,-1 0 0,0 0 0,1 0 0,-1 0 0,0-1 0,1 1 0,-1 0 0,0-1 0,0 1 0,0 0 0,0-1 0,0 1 0,-1 0 0,1-1 0,-1-1 0,0 1 0,1 0 0,-1 0 0,0-1 0,1 1 0,-1 0 0,1-1 0,-1 0 0,1 1 0,-1-1 0,1 0 0,-1 0 0,1 0 0,-3-2 0,-3-3 0,-1-1 0,1 0 0,0-1 0,-11-15 0,5-1 0,11 20 0,1 0 0,-1 0 0,-1-1 0,1 1 0,-1 1 0,0-1 0,1 0 0,-2 1 0,1-1 0,-6-4 0,8 8 0,1 0 0,-1-1 0,1 1 0,-1 0 0,1 0 0,-1 0 0,0 0 0,1 0 0,-1 0 0,1 0 0,-1 1 0,1-1 0,-1 0 0,1 0 0,-1 0 0,1 1 0,-1-1 0,1 0 0,-1 0 0,1 1 0,-1-1 0,1 0 0,-1 1 0,1-1 0,-1 1 0,1-1 0,0 0 0,-1 1 0,1-1 0,0 1 0,0-1 0,-1 1 0,1-1 0,0 1 0,0 0 0,0-1 0,-1 1 0,1-1 0,0 1 0,0-1 0,0 1 0,0-1 0,0 1 0,0 1 0,-3 30 0,3-31 0,0 97 0,1-373 0,-1 286 0,-1 9 0,1-1 0,1 1 0,1 0 0,0-1 0,1 1 0,1-1 0,12 32 0,4-1 0,-8-18 0,24 44 0,-36-75 0,0-1 0,0 0 0,0 0 0,0 0 0,0 0 0,0 0 0,0 0 0,1 0 0,-1 1 0,0-1 0,0 0 0,0 0 0,0 0 0,0 0 0,0 0 0,0 0 0,0 0 0,0 0 0,0 1 0,0-1 0,0 0 0,1 0 0,-1 0 0,0 0 0,0 0 0,0 0 0,0 0 0,0 0 0,0 0 0,0 0 0,1 0 0,-1 0 0,0 0 0,0 0 0,0 0 0,0 0 0,0 0 0,0 0 0,1 0 0,-1 0 0,0 0 0,0 0 0,0 0 0,0 0 0,0 0 0,0 0 0,0 0 0,1 0 0,-1 0 0,0 0 0,0 0 0,0 0 0,0-1 0,0 1 0,0 0 0,0 0 0,0 0 0,0 0 0,0 0 0,0 0 0,1 0 0,-1 0 0,0-1 0,0 1 0,0 0 0,3-14 0,-1-18 0,-2-30-1365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90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55 sec)</a:t>
            </a:r>
          </a:p>
          <a:p>
            <a:r>
              <a:t>Open with a simple question: How can we know which coastal locations need closer inspection when a satellite observes a much larger area? Introduce AquaSpectra as a proof of concept, not a verified algal bloom detector.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60 sec)</a:t>
            </a:r>
          </a:p>
          <a:p>
            <a:r>
              <a:t>Coastal waters support ecosystems and human activities. Satellites can cover large areas, but field inspections cannot be everywhere. The challenge is deciding where to look first.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55 sec)</a:t>
            </a:r>
          </a:p>
          <a:p>
            <a:r>
              <a:t>A satellite gives us observations, but observations are not automatically decisions. AquaSpectra focuses on a narrow question: can spectral changes point to locations worth checking?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65 sec)</a:t>
            </a:r>
          </a:p>
          <a:p>
            <a:r>
              <a:t>We focused on a small coastal area near Al Raha Bay and Al Muneera in Abu Dhabi. We downloaded four Sentinel-2 Level-2A scenes from Copernicus Browser: 29 March, 3 April, 6 April and 28 April 2023. Sentinel-2 is multispectral, not hyperspectral.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85 sec)</a:t>
            </a:r>
          </a:p>
          <a:p>
            <a:r>
              <a:t>First we select preliminary water-candidate pixels. Then we calculate NDCI, a chlorophyll-sensitive spectral index, using red and red-edge bands. We smooth the map using a 5 by 5 spatial moving window, compare March 29 to April 3, and group high-change neighboring pixels. The mask is preliminary and the smoothing is spatial, not an AI transformer.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70 sec)</a:t>
            </a:r>
          </a:p>
          <a:p>
            <a:r>
              <a:t>We compared the smoothed NDCI on March 29 and April 3. Out of 3,435 valid comparisons, the highest 10 percent gave 344 priority pixels. The threshold was a screening choice, not a medical or biological alarm.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80 sec)</a:t>
            </a:r>
          </a:p>
          <a:p>
            <a:r>
              <a:t>We grouped adjacent priority pixels and kept regions with at least five pixels. Five candidate regions remained. Region 2 was largest: 189 pixels, around 15,095 square meters. These are candidates for further checks, not confirmed harmful blooms.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85 sec)</a:t>
            </a:r>
          </a:p>
          <a:p>
            <a:r>
              <a:t>Now show the working Colab dashboard live, or use this slide as backup. Choose All Regions and then Region 2. Explain that the interface displays the map and region information. The outlines come from the March 29 to April 3 comparison, even when another image date is selected.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PRESENTER NOTES (approx. 65 sec)</a:t>
            </a:r>
          </a:p>
          <a:p>
            <a:r>
              <a:t>The value is a clearer starting point for environmental teams: where should we investigate first? Next we would validate water masks, compare with field samples, expand the time series, and only then consider AI models. Close with: AquaSpectra does not replace scientists; it helps them focus.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7.jp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customXml" Target="../ink/ink2.xml"/><Relationship Id="rId5" Type="http://schemas.openxmlformats.org/officeDocument/2006/relationships/image" Target="../media/image60.png"/><Relationship Id="rId10" Type="http://schemas.openxmlformats.org/officeDocument/2006/relationships/image" Target="../media/image9.png"/><Relationship Id="rId4" Type="http://schemas.openxmlformats.org/officeDocument/2006/relationships/customXml" Target="../ink/ink1.xm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p:cNvPicPr>
            <a:picLocks noChangeAspect="1"/>
          </p:cNvPicPr>
          <p:nvPr/>
        </p:nvPicPr>
        <p:blipFill>
          <a:blip r:embed="rId3"/>
          <a:srcRect/>
          <a:stretch/>
        </p:blipFill>
        <p:spPr>
          <a:xfrm>
            <a:off x="2713704" y="0"/>
            <a:ext cx="9477992" cy="6857999"/>
          </a:xfrm>
          <a:prstGeom prst="rect">
            <a:avLst/>
          </a:prstGeom>
        </p:spPr>
      </p:pic>
      <p:sp>
        <p:nvSpPr>
          <p:cNvPr id="4" name="Rectangle 3"/>
          <p:cNvSpPr/>
          <p:nvPr/>
        </p:nvSpPr>
        <p:spPr>
          <a:xfrm>
            <a:off x="0" y="0"/>
            <a:ext cx="6172200" cy="6858000"/>
          </a:xfrm>
          <a:prstGeom prst="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521207"/>
            <a:ext cx="5394960" cy="292608"/>
          </a:xfrm>
          <a:prstGeom prst="rect">
            <a:avLst/>
          </a:prstGeom>
          <a:noFill/>
        </p:spPr>
        <p:txBody>
          <a:bodyPr wrap="square">
            <a:spAutoFit/>
          </a:bodyPr>
          <a:lstStyle/>
          <a:p>
            <a:pPr>
              <a:defRPr sz="1200" b="1">
                <a:solidFill>
                  <a:srgbClr val="88BDB2"/>
                </a:solidFill>
                <a:latin typeface="Aptos Display"/>
              </a:defRPr>
            </a:pPr>
            <a:r>
              <a:t>ARAB YOUTH SPACE HACKATHON 2026  •  CHALLENGE 813</a:t>
            </a:r>
          </a:p>
        </p:txBody>
      </p:sp>
      <p:sp>
        <p:nvSpPr>
          <p:cNvPr id="6" name="TextBox 5"/>
          <p:cNvSpPr txBox="1"/>
          <p:nvPr/>
        </p:nvSpPr>
        <p:spPr>
          <a:xfrm>
            <a:off x="502920" y="1371600"/>
            <a:ext cx="5486400" cy="1005840"/>
          </a:xfrm>
          <a:prstGeom prst="rect">
            <a:avLst/>
          </a:prstGeom>
          <a:noFill/>
        </p:spPr>
        <p:txBody>
          <a:bodyPr wrap="square">
            <a:spAutoFit/>
          </a:bodyPr>
          <a:lstStyle/>
          <a:p>
            <a:pPr>
              <a:defRPr sz="4700" b="1">
                <a:solidFill>
                  <a:srgbClr val="FFFFFF"/>
                </a:solidFill>
                <a:latin typeface="Aptos Display"/>
              </a:defRPr>
            </a:pPr>
            <a:r>
              <a:t>AquaSpectra</a:t>
            </a:r>
          </a:p>
        </p:txBody>
      </p:sp>
      <p:sp>
        <p:nvSpPr>
          <p:cNvPr id="7" name="TextBox 6"/>
          <p:cNvSpPr txBox="1"/>
          <p:nvPr/>
        </p:nvSpPr>
        <p:spPr>
          <a:xfrm>
            <a:off x="502920" y="2514600"/>
            <a:ext cx="5303520" cy="1325880"/>
          </a:xfrm>
          <a:prstGeom prst="rect">
            <a:avLst/>
          </a:prstGeom>
          <a:noFill/>
        </p:spPr>
        <p:txBody>
          <a:bodyPr wrap="square">
            <a:spAutoFit/>
          </a:bodyPr>
          <a:lstStyle/>
          <a:p>
            <a:pPr>
              <a:defRPr sz="2500" b="0">
                <a:solidFill>
                  <a:srgbClr val="FFFFFF"/>
                </a:solidFill>
                <a:latin typeface="Aptos"/>
              </a:defRPr>
            </a:pPr>
            <a:r>
              <a:t>Turning satellite signals into</a:t>
            </a:r>
          </a:p>
          <a:p>
            <a:pPr>
              <a:defRPr sz="2500" b="0">
                <a:solidFill>
                  <a:srgbClr val="FFFFFF"/>
                </a:solidFill>
                <a:latin typeface="Aptos"/>
              </a:defRPr>
            </a:pPr>
            <a:r>
              <a:t>coastal monitoring priorities</a:t>
            </a:r>
          </a:p>
        </p:txBody>
      </p:sp>
      <p:sp>
        <p:nvSpPr>
          <p:cNvPr id="8" name="Rectangle 7"/>
          <p:cNvSpPr/>
          <p:nvPr/>
        </p:nvSpPr>
        <p:spPr>
          <a:xfrm>
            <a:off x="502920" y="4800600"/>
            <a:ext cx="4297680" cy="45720"/>
          </a:xfrm>
          <a:prstGeom prst="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5047488"/>
            <a:ext cx="5212080" cy="365760"/>
          </a:xfrm>
          <a:prstGeom prst="rect">
            <a:avLst/>
          </a:prstGeom>
          <a:noFill/>
        </p:spPr>
        <p:txBody>
          <a:bodyPr wrap="square">
            <a:spAutoFit/>
          </a:bodyPr>
          <a:lstStyle/>
          <a:p>
            <a:pPr>
              <a:defRPr sz="1300" b="1">
                <a:solidFill>
                  <a:srgbClr val="88BDB2"/>
                </a:solidFill>
                <a:latin typeface="Aptos Display"/>
              </a:defRPr>
            </a:pPr>
            <a:r>
              <a:t>AL RAHA BAY / AL MUNEERA  ·  ABU DHABI</a:t>
            </a:r>
          </a:p>
        </p:txBody>
      </p:sp>
      <p:sp>
        <p:nvSpPr>
          <p:cNvPr id="10" name="TextBox 9"/>
          <p:cNvSpPr txBox="1"/>
          <p:nvPr/>
        </p:nvSpPr>
        <p:spPr>
          <a:xfrm>
            <a:off x="502920" y="5806440"/>
            <a:ext cx="5212080" cy="274320"/>
          </a:xfrm>
          <a:prstGeom prst="rect">
            <a:avLst/>
          </a:prstGeom>
          <a:noFill/>
        </p:spPr>
        <p:txBody>
          <a:bodyPr wrap="square">
            <a:spAutoFit/>
          </a:bodyPr>
          <a:lstStyle/>
          <a:p>
            <a:pPr>
              <a:defRPr sz="1200" b="0">
                <a:solidFill>
                  <a:srgbClr val="FFFFFF"/>
                </a:solidFill>
                <a:latin typeface="Aptos"/>
              </a:defRPr>
            </a:pPr>
            <a:r>
              <a:t>Team AquaSpectra  |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01  •  FOUNDATION</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Why does coastal monitoring matter?</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02</a:t>
            </a:r>
          </a:p>
        </p:txBody>
      </p:sp>
      <p:sp>
        <p:nvSpPr>
          <p:cNvPr id="8" name="Rounded Rectangle 7"/>
          <p:cNvSpPr/>
          <p:nvPr/>
        </p:nvSpPr>
        <p:spPr>
          <a:xfrm>
            <a:off x="594360" y="1874519"/>
            <a:ext cx="3474720" cy="21488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2075688"/>
            <a:ext cx="3145536" cy="384048"/>
          </a:xfrm>
          <a:prstGeom prst="rect">
            <a:avLst/>
          </a:prstGeom>
          <a:noFill/>
        </p:spPr>
        <p:txBody>
          <a:bodyPr wrap="square">
            <a:spAutoFit/>
          </a:bodyPr>
          <a:lstStyle/>
          <a:p>
            <a:pPr>
              <a:defRPr sz="1900" b="1">
                <a:solidFill>
                  <a:srgbClr val="FFFFFF"/>
                </a:solidFill>
                <a:latin typeface="Aptos Display"/>
              </a:defRPr>
            </a:pPr>
            <a:r>
              <a:t>Large coastal areas</a:t>
            </a:r>
          </a:p>
        </p:txBody>
      </p:sp>
      <p:sp>
        <p:nvSpPr>
          <p:cNvPr id="10" name="TextBox 9"/>
          <p:cNvSpPr txBox="1"/>
          <p:nvPr/>
        </p:nvSpPr>
        <p:spPr>
          <a:xfrm>
            <a:off x="758952" y="2578608"/>
            <a:ext cx="3145536" cy="1371600"/>
          </a:xfrm>
          <a:prstGeom prst="rect">
            <a:avLst/>
          </a:prstGeom>
          <a:noFill/>
        </p:spPr>
        <p:txBody>
          <a:bodyPr wrap="square">
            <a:spAutoFit/>
          </a:bodyPr>
          <a:lstStyle/>
          <a:p>
            <a:pPr>
              <a:defRPr sz="1500" b="0">
                <a:solidFill>
                  <a:srgbClr val="FFFFFF"/>
                </a:solidFill>
                <a:latin typeface="Aptos"/>
              </a:defRPr>
            </a:pPr>
            <a:r>
              <a:t>Too much coastline to inspect everywhere.</a:t>
            </a:r>
          </a:p>
        </p:txBody>
      </p:sp>
      <p:sp>
        <p:nvSpPr>
          <p:cNvPr id="11" name="Rounded Rectangle 10"/>
          <p:cNvSpPr/>
          <p:nvPr/>
        </p:nvSpPr>
        <p:spPr>
          <a:xfrm>
            <a:off x="4370832" y="1874519"/>
            <a:ext cx="3474720" cy="21488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35424" y="2075688"/>
            <a:ext cx="3145536" cy="384048"/>
          </a:xfrm>
          <a:prstGeom prst="rect">
            <a:avLst/>
          </a:prstGeom>
          <a:noFill/>
        </p:spPr>
        <p:txBody>
          <a:bodyPr wrap="square">
            <a:spAutoFit/>
          </a:bodyPr>
          <a:lstStyle/>
          <a:p>
            <a:pPr>
              <a:defRPr sz="1900" b="1">
                <a:solidFill>
                  <a:srgbClr val="FFFFFF"/>
                </a:solidFill>
                <a:latin typeface="Aptos Display"/>
              </a:defRPr>
            </a:pPr>
            <a:r>
              <a:t>Limited field capacity</a:t>
            </a:r>
          </a:p>
        </p:txBody>
      </p:sp>
      <p:sp>
        <p:nvSpPr>
          <p:cNvPr id="13" name="TextBox 12"/>
          <p:cNvSpPr txBox="1"/>
          <p:nvPr/>
        </p:nvSpPr>
        <p:spPr>
          <a:xfrm>
            <a:off x="4535424" y="2578608"/>
            <a:ext cx="3145536" cy="1371600"/>
          </a:xfrm>
          <a:prstGeom prst="rect">
            <a:avLst/>
          </a:prstGeom>
          <a:noFill/>
        </p:spPr>
        <p:txBody>
          <a:bodyPr wrap="square">
            <a:spAutoFit/>
          </a:bodyPr>
          <a:lstStyle/>
          <a:p>
            <a:pPr>
              <a:defRPr sz="1500" b="0">
                <a:solidFill>
                  <a:srgbClr val="FFFFFF"/>
                </a:solidFill>
                <a:latin typeface="Aptos"/>
              </a:defRPr>
            </a:pPr>
            <a:r>
              <a:t>Sampling takes time, people and resources.</a:t>
            </a:r>
          </a:p>
        </p:txBody>
      </p:sp>
      <p:sp>
        <p:nvSpPr>
          <p:cNvPr id="14" name="Rounded Rectangle 13"/>
          <p:cNvSpPr/>
          <p:nvPr/>
        </p:nvSpPr>
        <p:spPr>
          <a:xfrm>
            <a:off x="8138160" y="1874519"/>
            <a:ext cx="3474720" cy="21488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2075688"/>
            <a:ext cx="3145536" cy="384048"/>
          </a:xfrm>
          <a:prstGeom prst="rect">
            <a:avLst/>
          </a:prstGeom>
          <a:noFill/>
        </p:spPr>
        <p:txBody>
          <a:bodyPr wrap="square">
            <a:spAutoFit/>
          </a:bodyPr>
          <a:lstStyle/>
          <a:p>
            <a:pPr>
              <a:defRPr sz="1900" b="1">
                <a:solidFill>
                  <a:srgbClr val="FFFFFF"/>
                </a:solidFill>
                <a:latin typeface="Aptos Display"/>
              </a:defRPr>
            </a:pPr>
            <a:r>
              <a:t>Changing conditions</a:t>
            </a:r>
          </a:p>
        </p:txBody>
      </p:sp>
      <p:sp>
        <p:nvSpPr>
          <p:cNvPr id="16" name="TextBox 15"/>
          <p:cNvSpPr txBox="1"/>
          <p:nvPr/>
        </p:nvSpPr>
        <p:spPr>
          <a:xfrm>
            <a:off x="8302752" y="2578608"/>
            <a:ext cx="3145536" cy="1371600"/>
          </a:xfrm>
          <a:prstGeom prst="rect">
            <a:avLst/>
          </a:prstGeom>
          <a:noFill/>
        </p:spPr>
        <p:txBody>
          <a:bodyPr wrap="square">
            <a:spAutoFit/>
          </a:bodyPr>
          <a:lstStyle/>
          <a:p>
            <a:pPr>
              <a:defRPr sz="1500" b="0">
                <a:solidFill>
                  <a:srgbClr val="FFFFFF"/>
                </a:solidFill>
                <a:latin typeface="Aptos"/>
              </a:defRPr>
            </a:pPr>
            <a:r>
              <a:t>Water appearance can change for many reasons.</a:t>
            </a:r>
          </a:p>
        </p:txBody>
      </p:sp>
      <p:sp>
        <p:nvSpPr>
          <p:cNvPr id="17" name="TextBox 16"/>
          <p:cNvSpPr txBox="1"/>
          <p:nvPr/>
        </p:nvSpPr>
        <p:spPr>
          <a:xfrm>
            <a:off x="1097280" y="4681728"/>
            <a:ext cx="10149840" cy="400110"/>
          </a:xfrm>
          <a:prstGeom prst="rect">
            <a:avLst/>
          </a:prstGeom>
          <a:noFill/>
        </p:spPr>
        <p:txBody>
          <a:bodyPr wrap="square">
            <a:spAutoFit/>
          </a:bodyPr>
          <a:lstStyle/>
          <a:p>
            <a:pPr algn="ctr">
              <a:defRPr sz="2500" b="1">
                <a:solidFill>
                  <a:srgbClr val="168D83"/>
                </a:solidFill>
                <a:latin typeface="Aptos Display"/>
              </a:defRPr>
            </a:pPr>
            <a:r>
              <a:rPr sz="2000" dirty="0"/>
              <a:t>The real challenge is not collecting more images — it is knowing where to investigate.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62"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02  •  CORE CHALLENGE</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From satellite data to a useful decision</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03</a:t>
            </a:r>
          </a:p>
        </p:txBody>
      </p:sp>
      <p:sp>
        <p:nvSpPr>
          <p:cNvPr id="8" name="Rounded Rectangle 7"/>
          <p:cNvSpPr/>
          <p:nvPr/>
        </p:nvSpPr>
        <p:spPr>
          <a:xfrm>
            <a:off x="640080" y="2057400"/>
            <a:ext cx="3337560" cy="19202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2258568"/>
            <a:ext cx="3008376" cy="384048"/>
          </a:xfrm>
          <a:prstGeom prst="rect">
            <a:avLst/>
          </a:prstGeom>
          <a:noFill/>
        </p:spPr>
        <p:txBody>
          <a:bodyPr wrap="square">
            <a:spAutoFit/>
          </a:bodyPr>
          <a:lstStyle/>
          <a:p>
            <a:pPr>
              <a:defRPr sz="1900" b="1">
                <a:solidFill>
                  <a:srgbClr val="FFFFFF"/>
                </a:solidFill>
                <a:latin typeface="Aptos Display"/>
              </a:defRPr>
            </a:pPr>
            <a:r>
              <a:t>OBSERVE</a:t>
            </a:r>
          </a:p>
        </p:txBody>
      </p:sp>
      <p:sp>
        <p:nvSpPr>
          <p:cNvPr id="10" name="TextBox 9"/>
          <p:cNvSpPr txBox="1"/>
          <p:nvPr/>
        </p:nvSpPr>
        <p:spPr>
          <a:xfrm>
            <a:off x="804671" y="2761488"/>
            <a:ext cx="3008376" cy="1143000"/>
          </a:xfrm>
          <a:prstGeom prst="rect">
            <a:avLst/>
          </a:prstGeom>
          <a:noFill/>
        </p:spPr>
        <p:txBody>
          <a:bodyPr wrap="square">
            <a:spAutoFit/>
          </a:bodyPr>
          <a:lstStyle/>
          <a:p>
            <a:pPr>
              <a:defRPr sz="1500" b="0">
                <a:solidFill>
                  <a:srgbClr val="FFFFFF"/>
                </a:solidFill>
                <a:latin typeface="Aptos"/>
              </a:defRPr>
            </a:pPr>
            <a:r>
              <a:t>Satellite pixels</a:t>
            </a:r>
          </a:p>
        </p:txBody>
      </p:sp>
      <p:sp>
        <p:nvSpPr>
          <p:cNvPr id="11" name="TextBox 10"/>
          <p:cNvSpPr txBox="1"/>
          <p:nvPr/>
        </p:nvSpPr>
        <p:spPr>
          <a:xfrm>
            <a:off x="4059936" y="2560320"/>
            <a:ext cx="411480" cy="457200"/>
          </a:xfrm>
          <a:prstGeom prst="rect">
            <a:avLst/>
          </a:prstGeom>
          <a:noFill/>
        </p:spPr>
        <p:txBody>
          <a:bodyPr wrap="square">
            <a:spAutoFit/>
          </a:bodyPr>
          <a:lstStyle/>
          <a:p>
            <a:pPr>
              <a:defRPr sz="3000" b="1">
                <a:solidFill>
                  <a:srgbClr val="168D83"/>
                </a:solidFill>
                <a:latin typeface="Aptos Display"/>
              </a:defRPr>
            </a:pPr>
            <a:r>
              <a:t>→</a:t>
            </a:r>
          </a:p>
        </p:txBody>
      </p:sp>
      <p:sp>
        <p:nvSpPr>
          <p:cNvPr id="12" name="Rounded Rectangle 11"/>
          <p:cNvSpPr/>
          <p:nvPr/>
        </p:nvSpPr>
        <p:spPr>
          <a:xfrm>
            <a:off x="4517136" y="2057400"/>
            <a:ext cx="3337560" cy="19202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81728" y="2258568"/>
            <a:ext cx="3008376" cy="384048"/>
          </a:xfrm>
          <a:prstGeom prst="rect">
            <a:avLst/>
          </a:prstGeom>
          <a:noFill/>
        </p:spPr>
        <p:txBody>
          <a:bodyPr wrap="square">
            <a:spAutoFit/>
          </a:bodyPr>
          <a:lstStyle/>
          <a:p>
            <a:pPr>
              <a:defRPr sz="1900" b="1">
                <a:solidFill>
                  <a:srgbClr val="FFFFFF"/>
                </a:solidFill>
                <a:latin typeface="Aptos Display"/>
              </a:defRPr>
            </a:pPr>
            <a:r>
              <a:t>INTERPRET</a:t>
            </a:r>
          </a:p>
        </p:txBody>
      </p:sp>
      <p:sp>
        <p:nvSpPr>
          <p:cNvPr id="14" name="TextBox 13"/>
          <p:cNvSpPr txBox="1"/>
          <p:nvPr/>
        </p:nvSpPr>
        <p:spPr>
          <a:xfrm>
            <a:off x="4681728" y="2761488"/>
            <a:ext cx="3008376" cy="1143000"/>
          </a:xfrm>
          <a:prstGeom prst="rect">
            <a:avLst/>
          </a:prstGeom>
          <a:noFill/>
        </p:spPr>
        <p:txBody>
          <a:bodyPr wrap="square">
            <a:spAutoFit/>
          </a:bodyPr>
          <a:lstStyle/>
          <a:p>
            <a:pPr>
              <a:defRPr sz="1500" b="0">
                <a:solidFill>
                  <a:srgbClr val="FFFFFF"/>
                </a:solidFill>
                <a:latin typeface="Aptos"/>
              </a:defRPr>
            </a:pPr>
            <a:r>
              <a:t>Spectral change</a:t>
            </a:r>
          </a:p>
        </p:txBody>
      </p:sp>
      <p:sp>
        <p:nvSpPr>
          <p:cNvPr id="15" name="TextBox 14"/>
          <p:cNvSpPr txBox="1"/>
          <p:nvPr/>
        </p:nvSpPr>
        <p:spPr>
          <a:xfrm>
            <a:off x="7936992" y="2560320"/>
            <a:ext cx="411480" cy="457200"/>
          </a:xfrm>
          <a:prstGeom prst="rect">
            <a:avLst/>
          </a:prstGeom>
          <a:noFill/>
        </p:spPr>
        <p:txBody>
          <a:bodyPr wrap="square">
            <a:spAutoFit/>
          </a:bodyPr>
          <a:lstStyle/>
          <a:p>
            <a:pPr>
              <a:defRPr sz="3000" b="1">
                <a:solidFill>
                  <a:srgbClr val="168D83"/>
                </a:solidFill>
                <a:latin typeface="Aptos Display"/>
              </a:defRPr>
            </a:pPr>
            <a:r>
              <a:t>→</a:t>
            </a:r>
          </a:p>
        </p:txBody>
      </p:sp>
      <p:sp>
        <p:nvSpPr>
          <p:cNvPr id="16" name="Rounded Rectangle 15"/>
          <p:cNvSpPr/>
          <p:nvPr/>
        </p:nvSpPr>
        <p:spPr>
          <a:xfrm>
            <a:off x="8394192" y="2057400"/>
            <a:ext cx="3337560" cy="19202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58784" y="2258568"/>
            <a:ext cx="3008376" cy="384048"/>
          </a:xfrm>
          <a:prstGeom prst="rect">
            <a:avLst/>
          </a:prstGeom>
          <a:noFill/>
        </p:spPr>
        <p:txBody>
          <a:bodyPr wrap="square">
            <a:spAutoFit/>
          </a:bodyPr>
          <a:lstStyle/>
          <a:p>
            <a:pPr>
              <a:defRPr sz="1900" b="1">
                <a:solidFill>
                  <a:srgbClr val="FFFFFF"/>
                </a:solidFill>
                <a:latin typeface="Aptos Display"/>
              </a:defRPr>
            </a:pPr>
            <a:r>
              <a:t>PRIORITIZE</a:t>
            </a:r>
          </a:p>
        </p:txBody>
      </p:sp>
      <p:sp>
        <p:nvSpPr>
          <p:cNvPr id="18" name="TextBox 17"/>
          <p:cNvSpPr txBox="1"/>
          <p:nvPr/>
        </p:nvSpPr>
        <p:spPr>
          <a:xfrm>
            <a:off x="8558784" y="2761488"/>
            <a:ext cx="3008376" cy="1143000"/>
          </a:xfrm>
          <a:prstGeom prst="rect">
            <a:avLst/>
          </a:prstGeom>
          <a:noFill/>
        </p:spPr>
        <p:txBody>
          <a:bodyPr wrap="square">
            <a:spAutoFit/>
          </a:bodyPr>
          <a:lstStyle/>
          <a:p>
            <a:pPr>
              <a:defRPr sz="1500" b="0">
                <a:solidFill>
                  <a:srgbClr val="FFFFFF"/>
                </a:solidFill>
                <a:latin typeface="Aptos"/>
              </a:defRPr>
            </a:pPr>
            <a:r>
              <a:t>Places to inspect</a:t>
            </a:r>
          </a:p>
        </p:txBody>
      </p:sp>
      <p:sp>
        <p:nvSpPr>
          <p:cNvPr id="19" name="TextBox 18"/>
          <p:cNvSpPr txBox="1"/>
          <p:nvPr/>
        </p:nvSpPr>
        <p:spPr>
          <a:xfrm>
            <a:off x="914400" y="4800600"/>
            <a:ext cx="10332720" cy="400110"/>
          </a:xfrm>
          <a:prstGeom prst="rect">
            <a:avLst/>
          </a:prstGeom>
          <a:noFill/>
        </p:spPr>
        <p:txBody>
          <a:bodyPr wrap="square">
            <a:spAutoFit/>
          </a:bodyPr>
          <a:lstStyle/>
          <a:p>
            <a:pPr algn="ctr">
              <a:defRPr sz="2200" b="1">
                <a:solidFill>
                  <a:srgbClr val="EE786F"/>
                </a:solidFill>
                <a:latin typeface="Aptos Display"/>
              </a:defRPr>
            </a:pPr>
            <a:r>
              <a:rPr sz="2000" dirty="0"/>
              <a:t>Not every unusual pixel is pollution or a harmful algal bloom.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31"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03  •  STUDY AREA</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Where did we look?</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04</a:t>
            </a:r>
          </a:p>
        </p:txBody>
      </p:sp>
      <p:pic>
        <p:nvPicPr>
          <p:cNvPr id="8" name="Picture 7"/>
          <p:cNvPicPr>
            <a:picLocks noChangeAspect="1"/>
          </p:cNvPicPr>
          <p:nvPr/>
        </p:nvPicPr>
        <p:blipFill>
          <a:blip r:embed="rId3"/>
          <a:srcRect l="5812" t="18905" r="11778" b="27790"/>
          <a:stretch>
            <a:fillRect/>
          </a:stretch>
        </p:blipFill>
        <p:spPr>
          <a:xfrm>
            <a:off x="502920" y="1399817"/>
            <a:ext cx="6597675" cy="4296911"/>
          </a:xfrm>
          <a:prstGeom prst="rect">
            <a:avLst/>
          </a:prstGeom>
        </p:spPr>
      </p:pic>
      <p:sp>
        <p:nvSpPr>
          <p:cNvPr id="9" name="Rounded Rectangle 8"/>
          <p:cNvSpPr/>
          <p:nvPr/>
        </p:nvSpPr>
        <p:spPr>
          <a:xfrm>
            <a:off x="7635240" y="1673352"/>
            <a:ext cx="388620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99831" y="1874520"/>
            <a:ext cx="3557016" cy="384048"/>
          </a:xfrm>
          <a:prstGeom prst="rect">
            <a:avLst/>
          </a:prstGeom>
          <a:noFill/>
        </p:spPr>
        <p:txBody>
          <a:bodyPr wrap="square">
            <a:spAutoFit/>
          </a:bodyPr>
          <a:lstStyle/>
          <a:p>
            <a:pPr>
              <a:defRPr sz="1900" b="1">
                <a:solidFill>
                  <a:srgbClr val="FFFFFF"/>
                </a:solidFill>
                <a:latin typeface="Aptos Display"/>
              </a:defRPr>
            </a:pPr>
            <a:r>
              <a:rPr dirty="0"/>
              <a:t>Study area</a:t>
            </a:r>
          </a:p>
        </p:txBody>
      </p:sp>
      <p:sp>
        <p:nvSpPr>
          <p:cNvPr id="11" name="TextBox 10"/>
          <p:cNvSpPr txBox="1"/>
          <p:nvPr/>
        </p:nvSpPr>
        <p:spPr>
          <a:xfrm>
            <a:off x="7799831" y="2377440"/>
            <a:ext cx="3557016" cy="457200"/>
          </a:xfrm>
          <a:prstGeom prst="rect">
            <a:avLst/>
          </a:prstGeom>
          <a:noFill/>
        </p:spPr>
        <p:txBody>
          <a:bodyPr wrap="square">
            <a:spAutoFit/>
          </a:bodyPr>
          <a:lstStyle/>
          <a:p>
            <a:pPr>
              <a:defRPr sz="1500" b="0">
                <a:solidFill>
                  <a:srgbClr val="FFFFFF"/>
                </a:solidFill>
                <a:latin typeface="Aptos"/>
              </a:defRPr>
            </a:pPr>
            <a:r>
              <a:t>Al Raha Bay vicinity</a:t>
            </a:r>
          </a:p>
        </p:txBody>
      </p:sp>
      <p:sp>
        <p:nvSpPr>
          <p:cNvPr id="12" name="Rounded Rectangle 11"/>
          <p:cNvSpPr/>
          <p:nvPr/>
        </p:nvSpPr>
        <p:spPr>
          <a:xfrm>
            <a:off x="7635240" y="3108960"/>
            <a:ext cx="3886200" cy="12344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99831" y="3310128"/>
            <a:ext cx="3557016" cy="384048"/>
          </a:xfrm>
          <a:prstGeom prst="rect">
            <a:avLst/>
          </a:prstGeom>
          <a:noFill/>
        </p:spPr>
        <p:txBody>
          <a:bodyPr wrap="square">
            <a:spAutoFit/>
          </a:bodyPr>
          <a:lstStyle/>
          <a:p>
            <a:pPr>
              <a:defRPr sz="1900" b="1">
                <a:solidFill>
                  <a:srgbClr val="FFFFFF"/>
                </a:solidFill>
                <a:latin typeface="Aptos Display"/>
              </a:defRPr>
            </a:pPr>
            <a:r>
              <a:t>Data</a:t>
            </a:r>
          </a:p>
        </p:txBody>
      </p:sp>
      <p:sp>
        <p:nvSpPr>
          <p:cNvPr id="14" name="TextBox 13"/>
          <p:cNvSpPr txBox="1"/>
          <p:nvPr/>
        </p:nvSpPr>
        <p:spPr>
          <a:xfrm>
            <a:off x="7799831" y="3813048"/>
            <a:ext cx="3557016" cy="457200"/>
          </a:xfrm>
          <a:prstGeom prst="rect">
            <a:avLst/>
          </a:prstGeom>
          <a:noFill/>
        </p:spPr>
        <p:txBody>
          <a:bodyPr wrap="square">
            <a:spAutoFit/>
          </a:bodyPr>
          <a:lstStyle/>
          <a:p>
            <a:pPr>
              <a:defRPr sz="1500" b="0">
                <a:solidFill>
                  <a:srgbClr val="FFFFFF"/>
                </a:solidFill>
                <a:latin typeface="Aptos"/>
              </a:defRPr>
            </a:pPr>
            <a:r>
              <a:t>Sentinel-2 Level-2A</a:t>
            </a:r>
          </a:p>
        </p:txBody>
      </p:sp>
      <p:sp>
        <p:nvSpPr>
          <p:cNvPr id="15" name="Rounded Rectangle 14"/>
          <p:cNvSpPr/>
          <p:nvPr/>
        </p:nvSpPr>
        <p:spPr>
          <a:xfrm>
            <a:off x="7635240" y="4535424"/>
            <a:ext cx="388620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99831" y="4736592"/>
            <a:ext cx="3557016" cy="384048"/>
          </a:xfrm>
          <a:prstGeom prst="rect">
            <a:avLst/>
          </a:prstGeom>
          <a:noFill/>
        </p:spPr>
        <p:txBody>
          <a:bodyPr wrap="square">
            <a:spAutoFit/>
          </a:bodyPr>
          <a:lstStyle/>
          <a:p>
            <a:pPr>
              <a:defRPr sz="1900" b="1">
                <a:solidFill>
                  <a:srgbClr val="FFFFFF"/>
                </a:solidFill>
                <a:latin typeface="Aptos Display"/>
              </a:defRPr>
            </a:pPr>
            <a:r>
              <a:t>Four dates</a:t>
            </a:r>
          </a:p>
        </p:txBody>
      </p:sp>
      <p:sp>
        <p:nvSpPr>
          <p:cNvPr id="17" name="TextBox 16"/>
          <p:cNvSpPr txBox="1"/>
          <p:nvPr/>
        </p:nvSpPr>
        <p:spPr>
          <a:xfrm>
            <a:off x="7799831" y="5239512"/>
            <a:ext cx="3557016" cy="457200"/>
          </a:xfrm>
          <a:prstGeom prst="rect">
            <a:avLst/>
          </a:prstGeom>
          <a:noFill/>
        </p:spPr>
        <p:txBody>
          <a:bodyPr wrap="square">
            <a:spAutoFit/>
          </a:bodyPr>
          <a:lstStyle/>
          <a:p>
            <a:pPr>
              <a:defRPr sz="1500" b="0">
                <a:solidFill>
                  <a:srgbClr val="FFFFFF"/>
                </a:solidFill>
                <a:latin typeface="Aptos"/>
              </a:defRPr>
            </a:pPr>
            <a:r>
              <a:t>29 Mar · 03 Apr · 06 Apr · 28 Apr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04  •  OUR METHOD</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How does AquaSpectra work?</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05</a:t>
            </a:r>
          </a:p>
        </p:txBody>
      </p:sp>
      <p:sp>
        <p:nvSpPr>
          <p:cNvPr id="8" name="Rounded Rectangle 7"/>
          <p:cNvSpPr/>
          <p:nvPr/>
        </p:nvSpPr>
        <p:spPr>
          <a:xfrm>
            <a:off x="502920" y="2240280"/>
            <a:ext cx="2167128" cy="210312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2414016"/>
            <a:ext cx="320040" cy="365760"/>
          </a:xfrm>
          <a:prstGeom prst="rect">
            <a:avLst/>
          </a:prstGeom>
          <a:noFill/>
        </p:spPr>
        <p:txBody>
          <a:bodyPr wrap="square">
            <a:spAutoFit/>
          </a:bodyPr>
          <a:lstStyle/>
          <a:p>
            <a:pPr>
              <a:defRPr sz="2300" b="1">
                <a:solidFill>
                  <a:srgbClr val="88BDB2"/>
                </a:solidFill>
                <a:latin typeface="Aptos Display"/>
              </a:defRPr>
            </a:pPr>
            <a:r>
              <a:t>1</a:t>
            </a:r>
          </a:p>
        </p:txBody>
      </p:sp>
      <p:sp>
        <p:nvSpPr>
          <p:cNvPr id="10" name="TextBox 9"/>
          <p:cNvSpPr txBox="1"/>
          <p:nvPr/>
        </p:nvSpPr>
        <p:spPr>
          <a:xfrm>
            <a:off x="667512" y="2852928"/>
            <a:ext cx="1874519" cy="365760"/>
          </a:xfrm>
          <a:prstGeom prst="rect">
            <a:avLst/>
          </a:prstGeom>
          <a:noFill/>
        </p:spPr>
        <p:txBody>
          <a:bodyPr wrap="square">
            <a:spAutoFit/>
          </a:bodyPr>
          <a:lstStyle/>
          <a:p>
            <a:pPr>
              <a:defRPr sz="1800" b="1">
                <a:solidFill>
                  <a:srgbClr val="FFFFFF"/>
                </a:solidFill>
                <a:latin typeface="Aptos Display"/>
              </a:defRPr>
            </a:pPr>
            <a:r>
              <a:t>SELECT</a:t>
            </a:r>
          </a:p>
        </p:txBody>
      </p:sp>
      <p:sp>
        <p:nvSpPr>
          <p:cNvPr id="11" name="TextBox 10"/>
          <p:cNvSpPr txBox="1"/>
          <p:nvPr/>
        </p:nvSpPr>
        <p:spPr>
          <a:xfrm>
            <a:off x="667512" y="3346704"/>
            <a:ext cx="1874519" cy="685800"/>
          </a:xfrm>
          <a:prstGeom prst="rect">
            <a:avLst/>
          </a:prstGeom>
          <a:noFill/>
        </p:spPr>
        <p:txBody>
          <a:bodyPr wrap="square">
            <a:spAutoFit/>
          </a:bodyPr>
          <a:lstStyle/>
          <a:p>
            <a:pPr>
              <a:defRPr sz="1400" b="0">
                <a:solidFill>
                  <a:srgbClr val="FFFFFF"/>
                </a:solidFill>
                <a:latin typeface="Aptos"/>
              </a:defRPr>
            </a:pPr>
            <a:r>
              <a:t>Candidate-water pixels</a:t>
            </a:r>
          </a:p>
        </p:txBody>
      </p:sp>
      <p:sp>
        <p:nvSpPr>
          <p:cNvPr id="12" name="Rounded Rectangle 11"/>
          <p:cNvSpPr/>
          <p:nvPr/>
        </p:nvSpPr>
        <p:spPr>
          <a:xfrm>
            <a:off x="2862072" y="2240280"/>
            <a:ext cx="2167128" cy="210312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26664" y="2414016"/>
            <a:ext cx="320040" cy="365760"/>
          </a:xfrm>
          <a:prstGeom prst="rect">
            <a:avLst/>
          </a:prstGeom>
          <a:noFill/>
        </p:spPr>
        <p:txBody>
          <a:bodyPr wrap="square">
            <a:spAutoFit/>
          </a:bodyPr>
          <a:lstStyle/>
          <a:p>
            <a:pPr>
              <a:defRPr sz="2300" b="1">
                <a:solidFill>
                  <a:srgbClr val="88BDB2"/>
                </a:solidFill>
                <a:latin typeface="Aptos Display"/>
              </a:defRPr>
            </a:pPr>
            <a:r>
              <a:t>2</a:t>
            </a:r>
          </a:p>
        </p:txBody>
      </p:sp>
      <p:sp>
        <p:nvSpPr>
          <p:cNvPr id="14" name="TextBox 13"/>
          <p:cNvSpPr txBox="1"/>
          <p:nvPr/>
        </p:nvSpPr>
        <p:spPr>
          <a:xfrm>
            <a:off x="3026664" y="2852928"/>
            <a:ext cx="1874519" cy="365760"/>
          </a:xfrm>
          <a:prstGeom prst="rect">
            <a:avLst/>
          </a:prstGeom>
          <a:noFill/>
        </p:spPr>
        <p:txBody>
          <a:bodyPr wrap="square">
            <a:spAutoFit/>
          </a:bodyPr>
          <a:lstStyle/>
          <a:p>
            <a:pPr>
              <a:defRPr sz="1800" b="1">
                <a:solidFill>
                  <a:srgbClr val="FFFFFF"/>
                </a:solidFill>
                <a:latin typeface="Aptos Display"/>
              </a:defRPr>
            </a:pPr>
            <a:r>
              <a:t>MEASURE</a:t>
            </a:r>
          </a:p>
        </p:txBody>
      </p:sp>
      <p:sp>
        <p:nvSpPr>
          <p:cNvPr id="15" name="TextBox 14"/>
          <p:cNvSpPr txBox="1"/>
          <p:nvPr/>
        </p:nvSpPr>
        <p:spPr>
          <a:xfrm>
            <a:off x="3026664" y="3346704"/>
            <a:ext cx="1874519" cy="685800"/>
          </a:xfrm>
          <a:prstGeom prst="rect">
            <a:avLst/>
          </a:prstGeom>
          <a:noFill/>
        </p:spPr>
        <p:txBody>
          <a:bodyPr wrap="square">
            <a:spAutoFit/>
          </a:bodyPr>
          <a:lstStyle/>
          <a:p>
            <a:pPr>
              <a:defRPr sz="1400" b="0">
                <a:solidFill>
                  <a:srgbClr val="FFFFFF"/>
                </a:solidFill>
                <a:latin typeface="Aptos"/>
              </a:defRPr>
            </a:pPr>
            <a:r>
              <a:t>NDCI spectral index</a:t>
            </a:r>
          </a:p>
        </p:txBody>
      </p:sp>
      <p:sp>
        <p:nvSpPr>
          <p:cNvPr id="16" name="Rounded Rectangle 15"/>
          <p:cNvSpPr/>
          <p:nvPr/>
        </p:nvSpPr>
        <p:spPr>
          <a:xfrm>
            <a:off x="5221224" y="2240280"/>
            <a:ext cx="2167128" cy="210312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85816" y="2414016"/>
            <a:ext cx="320040" cy="365760"/>
          </a:xfrm>
          <a:prstGeom prst="rect">
            <a:avLst/>
          </a:prstGeom>
          <a:noFill/>
        </p:spPr>
        <p:txBody>
          <a:bodyPr wrap="square">
            <a:spAutoFit/>
          </a:bodyPr>
          <a:lstStyle/>
          <a:p>
            <a:pPr>
              <a:defRPr sz="2300" b="1">
                <a:solidFill>
                  <a:srgbClr val="88BDB2"/>
                </a:solidFill>
                <a:latin typeface="Aptos Display"/>
              </a:defRPr>
            </a:pPr>
            <a:r>
              <a:t>3</a:t>
            </a:r>
          </a:p>
        </p:txBody>
      </p:sp>
      <p:sp>
        <p:nvSpPr>
          <p:cNvPr id="18" name="TextBox 17"/>
          <p:cNvSpPr txBox="1"/>
          <p:nvPr/>
        </p:nvSpPr>
        <p:spPr>
          <a:xfrm>
            <a:off x="5385816" y="2852928"/>
            <a:ext cx="1874519" cy="365760"/>
          </a:xfrm>
          <a:prstGeom prst="rect">
            <a:avLst/>
          </a:prstGeom>
          <a:noFill/>
        </p:spPr>
        <p:txBody>
          <a:bodyPr wrap="square">
            <a:spAutoFit/>
          </a:bodyPr>
          <a:lstStyle/>
          <a:p>
            <a:pPr>
              <a:defRPr sz="1800" b="1">
                <a:solidFill>
                  <a:srgbClr val="FFFFFF"/>
                </a:solidFill>
                <a:latin typeface="Aptos Display"/>
              </a:defRPr>
            </a:pPr>
            <a:r>
              <a:t>SMOOTH</a:t>
            </a:r>
          </a:p>
        </p:txBody>
      </p:sp>
      <p:sp>
        <p:nvSpPr>
          <p:cNvPr id="19" name="TextBox 18"/>
          <p:cNvSpPr txBox="1"/>
          <p:nvPr/>
        </p:nvSpPr>
        <p:spPr>
          <a:xfrm>
            <a:off x="5385816" y="3346704"/>
            <a:ext cx="1874519" cy="685800"/>
          </a:xfrm>
          <a:prstGeom prst="rect">
            <a:avLst/>
          </a:prstGeom>
          <a:noFill/>
        </p:spPr>
        <p:txBody>
          <a:bodyPr wrap="square">
            <a:spAutoFit/>
          </a:bodyPr>
          <a:lstStyle/>
          <a:p>
            <a:pPr>
              <a:defRPr sz="1400" b="0">
                <a:solidFill>
                  <a:srgbClr val="FFFFFF"/>
                </a:solidFill>
                <a:latin typeface="Aptos"/>
              </a:defRPr>
            </a:pPr>
            <a:r>
              <a:t>5 × 5 spatial window</a:t>
            </a:r>
          </a:p>
        </p:txBody>
      </p:sp>
      <p:sp>
        <p:nvSpPr>
          <p:cNvPr id="20" name="Rounded Rectangle 19"/>
          <p:cNvSpPr/>
          <p:nvPr/>
        </p:nvSpPr>
        <p:spPr>
          <a:xfrm>
            <a:off x="7580376" y="2240280"/>
            <a:ext cx="2167128" cy="210312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44968" y="2414016"/>
            <a:ext cx="320040" cy="365760"/>
          </a:xfrm>
          <a:prstGeom prst="rect">
            <a:avLst/>
          </a:prstGeom>
          <a:noFill/>
        </p:spPr>
        <p:txBody>
          <a:bodyPr wrap="square">
            <a:spAutoFit/>
          </a:bodyPr>
          <a:lstStyle/>
          <a:p>
            <a:pPr>
              <a:defRPr sz="2300" b="1">
                <a:solidFill>
                  <a:srgbClr val="88BDB2"/>
                </a:solidFill>
                <a:latin typeface="Aptos Display"/>
              </a:defRPr>
            </a:pPr>
            <a:r>
              <a:t>4</a:t>
            </a:r>
          </a:p>
        </p:txBody>
      </p:sp>
      <p:sp>
        <p:nvSpPr>
          <p:cNvPr id="22" name="TextBox 21"/>
          <p:cNvSpPr txBox="1"/>
          <p:nvPr/>
        </p:nvSpPr>
        <p:spPr>
          <a:xfrm>
            <a:off x="7744968" y="2852928"/>
            <a:ext cx="1874519" cy="365760"/>
          </a:xfrm>
          <a:prstGeom prst="rect">
            <a:avLst/>
          </a:prstGeom>
          <a:noFill/>
        </p:spPr>
        <p:txBody>
          <a:bodyPr wrap="square">
            <a:spAutoFit/>
          </a:bodyPr>
          <a:lstStyle/>
          <a:p>
            <a:pPr>
              <a:defRPr sz="1800" b="1">
                <a:solidFill>
                  <a:srgbClr val="FFFFFF"/>
                </a:solidFill>
                <a:latin typeface="Aptos Display"/>
              </a:defRPr>
            </a:pPr>
            <a:r>
              <a:t>COMPARE</a:t>
            </a:r>
          </a:p>
        </p:txBody>
      </p:sp>
      <p:sp>
        <p:nvSpPr>
          <p:cNvPr id="23" name="TextBox 22"/>
          <p:cNvSpPr txBox="1"/>
          <p:nvPr/>
        </p:nvSpPr>
        <p:spPr>
          <a:xfrm>
            <a:off x="7744968" y="3346704"/>
            <a:ext cx="1874519" cy="685800"/>
          </a:xfrm>
          <a:prstGeom prst="rect">
            <a:avLst/>
          </a:prstGeom>
          <a:noFill/>
        </p:spPr>
        <p:txBody>
          <a:bodyPr wrap="square">
            <a:spAutoFit/>
          </a:bodyPr>
          <a:lstStyle/>
          <a:p>
            <a:pPr>
              <a:defRPr sz="1400" b="0">
                <a:solidFill>
                  <a:srgbClr val="FFFFFF"/>
                </a:solidFill>
                <a:latin typeface="Aptos"/>
              </a:defRPr>
            </a:pPr>
            <a:r>
              <a:t>29 Mar → 03 Apr</a:t>
            </a:r>
          </a:p>
        </p:txBody>
      </p:sp>
      <p:sp>
        <p:nvSpPr>
          <p:cNvPr id="24" name="Rounded Rectangle 23"/>
          <p:cNvSpPr/>
          <p:nvPr/>
        </p:nvSpPr>
        <p:spPr>
          <a:xfrm>
            <a:off x="9939528" y="2240280"/>
            <a:ext cx="2167128" cy="210312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104120" y="2414016"/>
            <a:ext cx="320040" cy="365760"/>
          </a:xfrm>
          <a:prstGeom prst="rect">
            <a:avLst/>
          </a:prstGeom>
          <a:noFill/>
        </p:spPr>
        <p:txBody>
          <a:bodyPr wrap="square">
            <a:spAutoFit/>
          </a:bodyPr>
          <a:lstStyle/>
          <a:p>
            <a:pPr>
              <a:defRPr sz="2300" b="1">
                <a:solidFill>
                  <a:srgbClr val="88BDB2"/>
                </a:solidFill>
                <a:latin typeface="Aptos Display"/>
              </a:defRPr>
            </a:pPr>
            <a:r>
              <a:t>5</a:t>
            </a:r>
          </a:p>
        </p:txBody>
      </p:sp>
      <p:sp>
        <p:nvSpPr>
          <p:cNvPr id="26" name="TextBox 25"/>
          <p:cNvSpPr txBox="1"/>
          <p:nvPr/>
        </p:nvSpPr>
        <p:spPr>
          <a:xfrm>
            <a:off x="10104120" y="2852928"/>
            <a:ext cx="1874519" cy="365760"/>
          </a:xfrm>
          <a:prstGeom prst="rect">
            <a:avLst/>
          </a:prstGeom>
          <a:noFill/>
        </p:spPr>
        <p:txBody>
          <a:bodyPr wrap="square">
            <a:spAutoFit/>
          </a:bodyPr>
          <a:lstStyle/>
          <a:p>
            <a:pPr>
              <a:defRPr sz="1800" b="1">
                <a:solidFill>
                  <a:srgbClr val="FFFFFF"/>
                </a:solidFill>
                <a:latin typeface="Aptos Display"/>
              </a:defRPr>
            </a:pPr>
            <a:r>
              <a:t>GROUP</a:t>
            </a:r>
          </a:p>
        </p:txBody>
      </p:sp>
      <p:sp>
        <p:nvSpPr>
          <p:cNvPr id="27" name="TextBox 26"/>
          <p:cNvSpPr txBox="1"/>
          <p:nvPr/>
        </p:nvSpPr>
        <p:spPr>
          <a:xfrm>
            <a:off x="10104120" y="3346704"/>
            <a:ext cx="1874519" cy="685800"/>
          </a:xfrm>
          <a:prstGeom prst="rect">
            <a:avLst/>
          </a:prstGeom>
          <a:noFill/>
        </p:spPr>
        <p:txBody>
          <a:bodyPr wrap="square">
            <a:spAutoFit/>
          </a:bodyPr>
          <a:lstStyle/>
          <a:p>
            <a:pPr>
              <a:defRPr sz="1400" b="0">
                <a:solidFill>
                  <a:srgbClr val="FFFFFF"/>
                </a:solidFill>
                <a:latin typeface="Aptos"/>
              </a:defRPr>
            </a:pPr>
            <a:r>
              <a:t>Nearby high-change pixels</a:t>
            </a:r>
          </a:p>
        </p:txBody>
      </p:sp>
      <p:sp>
        <p:nvSpPr>
          <p:cNvPr id="28" name="TextBox 27"/>
          <p:cNvSpPr txBox="1"/>
          <p:nvPr/>
        </p:nvSpPr>
        <p:spPr>
          <a:xfrm>
            <a:off x="868680" y="5074920"/>
            <a:ext cx="10515600" cy="640080"/>
          </a:xfrm>
          <a:prstGeom prst="rect">
            <a:avLst/>
          </a:prstGeom>
          <a:noFill/>
        </p:spPr>
        <p:txBody>
          <a:bodyPr wrap="square">
            <a:spAutoFit/>
          </a:bodyPr>
          <a:lstStyle/>
          <a:p>
            <a:pPr algn="ctr">
              <a:defRPr sz="2100" b="1">
                <a:solidFill>
                  <a:srgbClr val="168D83"/>
                </a:solidFill>
                <a:latin typeface="Aptos Display"/>
              </a:defRPr>
            </a:pPr>
            <a:r>
              <a:t>A transparent, reproducible screening workflow — not a trained AI prediction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05  •  WHAT CHANGED?</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Finding the strongest spectral changes</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06</a:t>
            </a:r>
          </a:p>
        </p:txBody>
      </p:sp>
      <p:pic>
        <p:nvPicPr>
          <p:cNvPr id="8" name="Picture 7"/>
          <p:cNvPicPr>
            <a:picLocks noChangeAspect="1"/>
          </p:cNvPicPr>
          <p:nvPr/>
        </p:nvPicPr>
        <p:blipFill>
          <a:blip r:embed="rId3"/>
          <a:srcRect r="47473"/>
          <a:stretch>
            <a:fillRect/>
          </a:stretch>
        </p:blipFill>
        <p:spPr>
          <a:xfrm>
            <a:off x="1829732" y="1699968"/>
            <a:ext cx="4604937" cy="1962108"/>
          </a:xfrm>
          <a:prstGeom prst="rect">
            <a:avLst/>
          </a:prstGeom>
        </p:spPr>
      </p:pic>
      <p:sp>
        <p:nvSpPr>
          <p:cNvPr id="9" name="Rounded Rectangle 8"/>
          <p:cNvSpPr/>
          <p:nvPr/>
        </p:nvSpPr>
        <p:spPr>
          <a:xfrm>
            <a:off x="7434631" y="1856231"/>
            <a:ext cx="324612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99223" y="2057400"/>
            <a:ext cx="2916936" cy="384048"/>
          </a:xfrm>
          <a:prstGeom prst="rect">
            <a:avLst/>
          </a:prstGeom>
          <a:noFill/>
        </p:spPr>
        <p:txBody>
          <a:bodyPr wrap="square">
            <a:spAutoFit/>
          </a:bodyPr>
          <a:lstStyle/>
          <a:p>
            <a:pPr>
              <a:defRPr sz="1900" b="1">
                <a:solidFill>
                  <a:srgbClr val="FFFFFF"/>
                </a:solidFill>
                <a:latin typeface="Aptos Display"/>
              </a:defRPr>
            </a:pPr>
            <a:r>
              <a:t>3,435</a:t>
            </a:r>
          </a:p>
        </p:txBody>
      </p:sp>
      <p:sp>
        <p:nvSpPr>
          <p:cNvPr id="11" name="TextBox 10"/>
          <p:cNvSpPr txBox="1"/>
          <p:nvPr/>
        </p:nvSpPr>
        <p:spPr>
          <a:xfrm>
            <a:off x="7599223" y="2560320"/>
            <a:ext cx="2916936" cy="457200"/>
          </a:xfrm>
          <a:prstGeom prst="rect">
            <a:avLst/>
          </a:prstGeom>
          <a:noFill/>
        </p:spPr>
        <p:txBody>
          <a:bodyPr wrap="square">
            <a:spAutoFit/>
          </a:bodyPr>
          <a:lstStyle/>
          <a:p>
            <a:pPr>
              <a:defRPr sz="1500" b="0">
                <a:solidFill>
                  <a:srgbClr val="FFFFFF"/>
                </a:solidFill>
                <a:latin typeface="Aptos"/>
              </a:defRPr>
            </a:pPr>
            <a:r>
              <a:t>Valid comparison pixels</a:t>
            </a:r>
          </a:p>
        </p:txBody>
      </p:sp>
      <p:sp>
        <p:nvSpPr>
          <p:cNvPr id="12" name="Rounded Rectangle 11"/>
          <p:cNvSpPr/>
          <p:nvPr/>
        </p:nvSpPr>
        <p:spPr>
          <a:xfrm>
            <a:off x="7434631" y="3328416"/>
            <a:ext cx="3246120" cy="12344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99223" y="3529584"/>
            <a:ext cx="2916936" cy="384048"/>
          </a:xfrm>
          <a:prstGeom prst="rect">
            <a:avLst/>
          </a:prstGeom>
          <a:noFill/>
        </p:spPr>
        <p:txBody>
          <a:bodyPr wrap="square">
            <a:spAutoFit/>
          </a:bodyPr>
          <a:lstStyle/>
          <a:p>
            <a:pPr>
              <a:defRPr sz="1900" b="1">
                <a:solidFill>
                  <a:srgbClr val="FFFFFF"/>
                </a:solidFill>
                <a:latin typeface="Aptos Display"/>
              </a:defRPr>
            </a:pPr>
            <a:r>
              <a:t>344</a:t>
            </a:r>
          </a:p>
        </p:txBody>
      </p:sp>
      <p:sp>
        <p:nvSpPr>
          <p:cNvPr id="14" name="TextBox 13"/>
          <p:cNvSpPr txBox="1"/>
          <p:nvPr/>
        </p:nvSpPr>
        <p:spPr>
          <a:xfrm>
            <a:off x="7599223" y="4032504"/>
            <a:ext cx="2916936" cy="457200"/>
          </a:xfrm>
          <a:prstGeom prst="rect">
            <a:avLst/>
          </a:prstGeom>
          <a:noFill/>
        </p:spPr>
        <p:txBody>
          <a:bodyPr wrap="square">
            <a:spAutoFit/>
          </a:bodyPr>
          <a:lstStyle/>
          <a:p>
            <a:pPr>
              <a:defRPr sz="1500" b="0">
                <a:solidFill>
                  <a:srgbClr val="FFFFFF"/>
                </a:solidFill>
                <a:latin typeface="Aptos"/>
              </a:defRPr>
            </a:pPr>
            <a:r>
              <a:t>Priority pixels</a:t>
            </a:r>
          </a:p>
        </p:txBody>
      </p:sp>
      <p:sp>
        <p:nvSpPr>
          <p:cNvPr id="15" name="TextBox 14"/>
          <p:cNvSpPr txBox="1"/>
          <p:nvPr/>
        </p:nvSpPr>
        <p:spPr>
          <a:xfrm>
            <a:off x="7480351" y="4919472"/>
            <a:ext cx="3154680" cy="658368"/>
          </a:xfrm>
          <a:prstGeom prst="rect">
            <a:avLst/>
          </a:prstGeom>
          <a:noFill/>
        </p:spPr>
        <p:txBody>
          <a:bodyPr wrap="square">
            <a:spAutoFit/>
          </a:bodyPr>
          <a:lstStyle/>
          <a:p>
            <a:pPr>
              <a:defRPr sz="1600" b="0">
                <a:solidFill>
                  <a:srgbClr val="143943"/>
                </a:solidFill>
                <a:latin typeface="Aptos"/>
              </a:defRPr>
            </a:pPr>
            <a:r>
              <a:t>Top 10% of valid change values</a:t>
            </a:r>
          </a:p>
        </p:txBody>
      </p:sp>
      <p:pic>
        <p:nvPicPr>
          <p:cNvPr id="18" name="Picture 17">
            <a:extLst>
              <a:ext uri="{FF2B5EF4-FFF2-40B4-BE49-F238E27FC236}">
                <a16:creationId xmlns:a16="http://schemas.microsoft.com/office/drawing/2014/main" id="{59CB871B-89FD-37D3-1631-27E2D1E052CA}"/>
              </a:ext>
            </a:extLst>
          </p:cNvPr>
          <p:cNvPicPr>
            <a:picLocks noChangeAspect="1"/>
          </p:cNvPicPr>
          <p:nvPr/>
        </p:nvPicPr>
        <p:blipFill>
          <a:blip r:embed="rId3"/>
          <a:srcRect l="51621"/>
          <a:stretch>
            <a:fillRect/>
          </a:stretch>
        </p:blipFill>
        <p:spPr>
          <a:xfrm>
            <a:off x="1829732" y="3850495"/>
            <a:ext cx="4604937" cy="2130339"/>
          </a:xfrm>
          <a:prstGeom prst="rect">
            <a:avLst/>
          </a:prstGeom>
        </p:spPr>
      </p:pic>
      <p:pic>
        <p:nvPicPr>
          <p:cNvPr id="19" name="Picture 18" descr="Equation_Slide_1.png"/>
          <p:cNvPicPr>
            <a:picLocks noChangeAspect="1"/>
          </p:cNvPicPr>
          <p:nvPr/>
        </p:nvPicPr>
        <p:blipFill>
          <a:blip r:embed="rId4"/>
          <a:stretch>
            <a:fillRect/>
          </a:stretch>
        </p:blipFill>
        <p:spPr>
          <a:xfrm>
            <a:off x="7937551" y="5405682"/>
            <a:ext cx="2240280" cy="717392"/>
          </a:xfrm>
          <a:prstGeom prst="rect">
            <a:avLst/>
          </a:prstGeom>
        </p:spPr>
      </p:pic>
      <p:sp>
        <p:nvSpPr>
          <p:cNvPr id="20" name="Oval 19"/>
          <p:cNvSpPr/>
          <p:nvPr/>
        </p:nvSpPr>
        <p:spPr>
          <a:xfrm>
            <a:off x="7150608" y="2167128"/>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7150608" y="3639312"/>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06  •  FROM SIGNAL TO ACTION</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Five areas worth investigating</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07</a:t>
            </a:r>
          </a:p>
        </p:txBody>
      </p:sp>
      <p:pic>
        <p:nvPicPr>
          <p:cNvPr id="8" name="Picture 7"/>
          <p:cNvPicPr>
            <a:picLocks noChangeAspect="1"/>
          </p:cNvPicPr>
          <p:nvPr/>
        </p:nvPicPr>
        <p:blipFill>
          <a:blip r:embed="rId3"/>
          <a:srcRect r="49632"/>
          <a:stretch>
            <a:fillRect/>
          </a:stretch>
        </p:blipFill>
        <p:spPr>
          <a:xfrm>
            <a:off x="2300463" y="1487600"/>
            <a:ext cx="3891798" cy="2414239"/>
          </a:xfrm>
          <a:prstGeom prst="rect">
            <a:avLst/>
          </a:prstGeom>
        </p:spPr>
      </p:pic>
      <p:sp>
        <p:nvSpPr>
          <p:cNvPr id="9" name="Rounded Rectangle 8"/>
          <p:cNvSpPr/>
          <p:nvPr/>
        </p:nvSpPr>
        <p:spPr>
          <a:xfrm>
            <a:off x="7123920" y="1719072"/>
            <a:ext cx="3108960" cy="12344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88512" y="1920240"/>
            <a:ext cx="2779776" cy="384048"/>
          </a:xfrm>
          <a:prstGeom prst="rect">
            <a:avLst/>
          </a:prstGeom>
          <a:noFill/>
        </p:spPr>
        <p:txBody>
          <a:bodyPr wrap="square">
            <a:spAutoFit/>
          </a:bodyPr>
          <a:lstStyle/>
          <a:p>
            <a:pPr>
              <a:defRPr sz="1900" b="1">
                <a:solidFill>
                  <a:srgbClr val="FFFFFF"/>
                </a:solidFill>
                <a:latin typeface="Aptos Display"/>
              </a:defRPr>
            </a:pPr>
            <a:r>
              <a:t>5 regions</a:t>
            </a:r>
          </a:p>
        </p:txBody>
      </p:sp>
      <p:sp>
        <p:nvSpPr>
          <p:cNvPr id="11" name="TextBox 10"/>
          <p:cNvSpPr txBox="1"/>
          <p:nvPr/>
        </p:nvSpPr>
        <p:spPr>
          <a:xfrm>
            <a:off x="7288512" y="2423160"/>
            <a:ext cx="2779776" cy="457200"/>
          </a:xfrm>
          <a:prstGeom prst="rect">
            <a:avLst/>
          </a:prstGeom>
          <a:noFill/>
        </p:spPr>
        <p:txBody>
          <a:bodyPr wrap="square">
            <a:spAutoFit/>
          </a:bodyPr>
          <a:lstStyle/>
          <a:p>
            <a:pPr>
              <a:defRPr sz="1500" b="0">
                <a:solidFill>
                  <a:srgbClr val="FFFFFF"/>
                </a:solidFill>
                <a:latin typeface="Aptos"/>
              </a:defRPr>
            </a:pPr>
            <a:r>
              <a:t>Candidate monitoring areas</a:t>
            </a:r>
          </a:p>
        </p:txBody>
      </p:sp>
      <p:sp>
        <p:nvSpPr>
          <p:cNvPr id="12" name="Rounded Rectangle 11"/>
          <p:cNvSpPr/>
          <p:nvPr/>
        </p:nvSpPr>
        <p:spPr>
          <a:xfrm>
            <a:off x="7123920" y="3145536"/>
            <a:ext cx="310896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88512" y="3346704"/>
            <a:ext cx="2779776" cy="384048"/>
          </a:xfrm>
          <a:prstGeom prst="rect">
            <a:avLst/>
          </a:prstGeom>
          <a:noFill/>
        </p:spPr>
        <p:txBody>
          <a:bodyPr wrap="square">
            <a:spAutoFit/>
          </a:bodyPr>
          <a:lstStyle/>
          <a:p>
            <a:pPr>
              <a:defRPr sz="1900" b="1">
                <a:solidFill>
                  <a:srgbClr val="FFFFFF"/>
                </a:solidFill>
                <a:latin typeface="Aptos Display"/>
              </a:defRPr>
            </a:pPr>
            <a:r>
              <a:t>Region 2</a:t>
            </a:r>
          </a:p>
        </p:txBody>
      </p:sp>
      <p:sp>
        <p:nvSpPr>
          <p:cNvPr id="14" name="TextBox 13"/>
          <p:cNvSpPr txBox="1"/>
          <p:nvPr/>
        </p:nvSpPr>
        <p:spPr>
          <a:xfrm>
            <a:off x="7288512" y="3849624"/>
            <a:ext cx="2779776" cy="457200"/>
          </a:xfrm>
          <a:prstGeom prst="rect">
            <a:avLst/>
          </a:prstGeom>
          <a:noFill/>
        </p:spPr>
        <p:txBody>
          <a:bodyPr wrap="square">
            <a:spAutoFit/>
          </a:bodyPr>
          <a:lstStyle/>
          <a:p>
            <a:pPr>
              <a:defRPr sz="1500" b="0">
                <a:solidFill>
                  <a:srgbClr val="FFFFFF"/>
                </a:solidFill>
                <a:latin typeface="Aptos"/>
              </a:defRPr>
            </a:pPr>
            <a:r>
              <a:t>Largest: 189 pixels</a:t>
            </a:r>
          </a:p>
        </p:txBody>
      </p:sp>
      <p:sp>
        <p:nvSpPr>
          <p:cNvPr id="15" name="TextBox 14"/>
          <p:cNvSpPr txBox="1"/>
          <p:nvPr/>
        </p:nvSpPr>
        <p:spPr>
          <a:xfrm>
            <a:off x="7215360" y="4681728"/>
            <a:ext cx="2926080" cy="457200"/>
          </a:xfrm>
          <a:prstGeom prst="rect">
            <a:avLst/>
          </a:prstGeom>
          <a:noFill/>
        </p:spPr>
        <p:txBody>
          <a:bodyPr wrap="square">
            <a:spAutoFit/>
          </a:bodyPr>
          <a:lstStyle/>
          <a:p>
            <a:pPr>
              <a:defRPr sz="2200" b="1">
                <a:solidFill>
                  <a:srgbClr val="168D83"/>
                </a:solidFill>
                <a:latin typeface="Aptos Display"/>
              </a:defRPr>
            </a:pPr>
            <a:r>
              <a:t>≈ 15,095 m²</a:t>
            </a:r>
          </a:p>
        </p:txBody>
      </p:sp>
      <p:pic>
        <p:nvPicPr>
          <p:cNvPr id="17" name="Picture 16">
            <a:extLst>
              <a:ext uri="{FF2B5EF4-FFF2-40B4-BE49-F238E27FC236}">
                <a16:creationId xmlns:a16="http://schemas.microsoft.com/office/drawing/2014/main" id="{3221C82A-6000-3D6A-FE3D-FBD44E6014F4}"/>
              </a:ext>
            </a:extLst>
          </p:cNvPr>
          <p:cNvPicPr>
            <a:picLocks noChangeAspect="1"/>
          </p:cNvPicPr>
          <p:nvPr/>
        </p:nvPicPr>
        <p:blipFill>
          <a:blip r:embed="rId3"/>
          <a:srcRect l="49632"/>
          <a:stretch>
            <a:fillRect/>
          </a:stretch>
        </p:blipFill>
        <p:spPr>
          <a:xfrm>
            <a:off x="2283201" y="3849624"/>
            <a:ext cx="3891798" cy="2414239"/>
          </a:xfrm>
          <a:prstGeom prst="rect">
            <a:avLst/>
          </a:prstGeom>
        </p:spPr>
      </p:pic>
      <p:pic>
        <p:nvPicPr>
          <p:cNvPr id="18" name="Picture 17" descr="Equation_Slide_3.png"/>
          <p:cNvPicPr>
            <a:picLocks noChangeAspect="1"/>
          </p:cNvPicPr>
          <p:nvPr/>
        </p:nvPicPr>
        <p:blipFill>
          <a:blip r:embed="rId4"/>
          <a:stretch>
            <a:fillRect/>
          </a:stretch>
        </p:blipFill>
        <p:spPr>
          <a:xfrm>
            <a:off x="7086600" y="5303520"/>
            <a:ext cx="3246120" cy="631190"/>
          </a:xfrm>
          <a:prstGeom prst="rect">
            <a:avLst/>
          </a:prstGeom>
        </p:spPr>
      </p:pic>
      <p:sp>
        <p:nvSpPr>
          <p:cNvPr id="19" name="Oval 18"/>
          <p:cNvSpPr/>
          <p:nvPr/>
        </p:nvSpPr>
        <p:spPr>
          <a:xfrm>
            <a:off x="6830568" y="2039112"/>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830568" y="3465576"/>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07  •  DEMONSTRATION</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A map an analyst can explore</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332963" y="6015999"/>
            <a:ext cx="457200" cy="201168"/>
          </a:xfrm>
          <a:prstGeom prst="rect">
            <a:avLst/>
          </a:prstGeom>
          <a:noFill/>
        </p:spPr>
        <p:txBody>
          <a:bodyPr wrap="square">
            <a:spAutoFit/>
          </a:bodyPr>
          <a:lstStyle/>
          <a:p>
            <a:pPr>
              <a:defRPr sz="1000" b="1">
                <a:solidFill>
                  <a:srgbClr val="168D83"/>
                </a:solidFill>
                <a:latin typeface="Aptos Display"/>
              </a:defRPr>
            </a:pPr>
            <a:r>
              <a:t>08</a:t>
            </a:r>
          </a:p>
        </p:txBody>
      </p:sp>
      <p:pic>
        <p:nvPicPr>
          <p:cNvPr id="8" name="Picture 7" descr="image.jpg"/>
          <p:cNvPicPr>
            <a:picLocks noChangeAspect="1"/>
          </p:cNvPicPr>
          <p:nvPr/>
        </p:nvPicPr>
        <p:blipFill>
          <a:blip r:embed="rId3"/>
          <a:stretch>
            <a:fillRect/>
          </a:stretch>
        </p:blipFill>
        <p:spPr>
          <a:xfrm>
            <a:off x="548640" y="1600200"/>
            <a:ext cx="6766560" cy="4480560"/>
          </a:xfrm>
          <a:prstGeom prst="rect">
            <a:avLst/>
          </a:prstGeom>
        </p:spPr>
      </p:pic>
      <p:sp>
        <p:nvSpPr>
          <p:cNvPr id="9" name="Rounded Rectangle 8"/>
          <p:cNvSpPr/>
          <p:nvPr/>
        </p:nvSpPr>
        <p:spPr>
          <a:xfrm>
            <a:off x="7812523" y="1261119"/>
            <a:ext cx="388620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77114" y="1462287"/>
            <a:ext cx="3557016" cy="384048"/>
          </a:xfrm>
          <a:prstGeom prst="rect">
            <a:avLst/>
          </a:prstGeom>
          <a:noFill/>
        </p:spPr>
        <p:txBody>
          <a:bodyPr wrap="square">
            <a:spAutoFit/>
          </a:bodyPr>
          <a:lstStyle/>
          <a:p>
            <a:pPr>
              <a:defRPr sz="1900" b="1">
                <a:solidFill>
                  <a:srgbClr val="FFFFFF"/>
                </a:solidFill>
                <a:latin typeface="Aptos Display"/>
              </a:defRPr>
            </a:pPr>
            <a:r>
              <a:t>SELECT</a:t>
            </a:r>
          </a:p>
        </p:txBody>
      </p:sp>
      <p:sp>
        <p:nvSpPr>
          <p:cNvPr id="11" name="TextBox 10"/>
          <p:cNvSpPr txBox="1"/>
          <p:nvPr/>
        </p:nvSpPr>
        <p:spPr>
          <a:xfrm>
            <a:off x="7977114" y="1965207"/>
            <a:ext cx="3557016" cy="457200"/>
          </a:xfrm>
          <a:prstGeom prst="rect">
            <a:avLst/>
          </a:prstGeom>
          <a:noFill/>
        </p:spPr>
        <p:txBody>
          <a:bodyPr wrap="square">
            <a:spAutoFit/>
          </a:bodyPr>
          <a:lstStyle/>
          <a:p>
            <a:pPr>
              <a:defRPr sz="1500" b="0">
                <a:solidFill>
                  <a:srgbClr val="FFFFFF"/>
                </a:solidFill>
                <a:latin typeface="Aptos"/>
              </a:defRPr>
            </a:pPr>
            <a:r>
              <a:t>Choose a monitoring region</a:t>
            </a:r>
          </a:p>
        </p:txBody>
      </p:sp>
      <p:sp>
        <p:nvSpPr>
          <p:cNvPr id="12" name="Rounded Rectangle 11"/>
          <p:cNvSpPr/>
          <p:nvPr/>
        </p:nvSpPr>
        <p:spPr>
          <a:xfrm>
            <a:off x="7812523" y="2705871"/>
            <a:ext cx="3886200" cy="123444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977114" y="2907039"/>
            <a:ext cx="3557016" cy="384048"/>
          </a:xfrm>
          <a:prstGeom prst="rect">
            <a:avLst/>
          </a:prstGeom>
          <a:noFill/>
        </p:spPr>
        <p:txBody>
          <a:bodyPr wrap="square">
            <a:spAutoFit/>
          </a:bodyPr>
          <a:lstStyle/>
          <a:p>
            <a:pPr>
              <a:defRPr sz="1900" b="1">
                <a:solidFill>
                  <a:srgbClr val="FFFFFF"/>
                </a:solidFill>
                <a:latin typeface="Aptos Display"/>
              </a:defRPr>
            </a:pPr>
            <a:r>
              <a:t>EXPLORE</a:t>
            </a:r>
          </a:p>
        </p:txBody>
      </p:sp>
      <p:sp>
        <p:nvSpPr>
          <p:cNvPr id="14" name="TextBox 13"/>
          <p:cNvSpPr txBox="1"/>
          <p:nvPr/>
        </p:nvSpPr>
        <p:spPr>
          <a:xfrm>
            <a:off x="7977114" y="3409958"/>
            <a:ext cx="3557016" cy="457200"/>
          </a:xfrm>
          <a:prstGeom prst="rect">
            <a:avLst/>
          </a:prstGeom>
          <a:noFill/>
        </p:spPr>
        <p:txBody>
          <a:bodyPr wrap="square">
            <a:spAutoFit/>
          </a:bodyPr>
          <a:lstStyle/>
          <a:p>
            <a:pPr>
              <a:defRPr sz="1500" b="0">
                <a:solidFill>
                  <a:srgbClr val="FFFFFF"/>
                </a:solidFill>
                <a:latin typeface="Aptos"/>
              </a:defRPr>
            </a:pPr>
            <a:r>
              <a:t>See location and summary</a:t>
            </a:r>
          </a:p>
        </p:txBody>
      </p:sp>
      <p:sp>
        <p:nvSpPr>
          <p:cNvPr id="15" name="Rounded Rectangle 14"/>
          <p:cNvSpPr/>
          <p:nvPr/>
        </p:nvSpPr>
        <p:spPr>
          <a:xfrm>
            <a:off x="7812523" y="4123191"/>
            <a:ext cx="3886200" cy="123444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77114" y="4324359"/>
            <a:ext cx="3557016" cy="384048"/>
          </a:xfrm>
          <a:prstGeom prst="rect">
            <a:avLst/>
          </a:prstGeom>
          <a:noFill/>
        </p:spPr>
        <p:txBody>
          <a:bodyPr wrap="square">
            <a:spAutoFit/>
          </a:bodyPr>
          <a:lstStyle/>
          <a:p>
            <a:pPr>
              <a:defRPr sz="1900" b="1">
                <a:solidFill>
                  <a:srgbClr val="FFFFFF"/>
                </a:solidFill>
                <a:latin typeface="Aptos Display"/>
              </a:defRPr>
            </a:pPr>
            <a:r>
              <a:t>DECIDE</a:t>
            </a:r>
          </a:p>
        </p:txBody>
      </p:sp>
      <p:sp>
        <p:nvSpPr>
          <p:cNvPr id="17" name="TextBox 16"/>
          <p:cNvSpPr txBox="1"/>
          <p:nvPr/>
        </p:nvSpPr>
        <p:spPr>
          <a:xfrm>
            <a:off x="7977114" y="4827279"/>
            <a:ext cx="3557016" cy="457200"/>
          </a:xfrm>
          <a:prstGeom prst="rect">
            <a:avLst/>
          </a:prstGeom>
          <a:noFill/>
        </p:spPr>
        <p:txBody>
          <a:bodyPr wrap="square">
            <a:spAutoFit/>
          </a:bodyPr>
          <a:lstStyle/>
          <a:p>
            <a:pPr>
              <a:defRPr sz="1500" b="0">
                <a:solidFill>
                  <a:srgbClr val="FFFFFF"/>
                </a:solidFill>
                <a:latin typeface="Aptos"/>
              </a:defRPr>
            </a:pPr>
            <a:r>
              <a:t>Plan follow-up inspection</a:t>
            </a:r>
          </a:p>
        </p:txBody>
      </p:sp>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64D21985-2445-C68A-174E-1E3D08CD00F3}"/>
                  </a:ext>
                </a:extLst>
              </p14:cNvPr>
              <p14:cNvContentPartPr/>
              <p14:nvPr/>
            </p14:nvContentPartPr>
            <p14:xfrm>
              <a:off x="2593712" y="2023971"/>
              <a:ext cx="239760" cy="75960"/>
            </p14:xfrm>
          </p:contentPart>
        </mc:Choice>
        <mc:Fallback xmlns="">
          <p:pic>
            <p:nvPicPr>
              <p:cNvPr id="18" name="Ink 17">
                <a:extLst>
                  <a:ext uri="{FF2B5EF4-FFF2-40B4-BE49-F238E27FC236}">
                    <a16:creationId xmlns:a16="http://schemas.microsoft.com/office/drawing/2014/main" id="{64D21985-2445-C68A-174E-1E3D08CD00F3}"/>
                  </a:ext>
                </a:extLst>
              </p:cNvPr>
              <p:cNvPicPr/>
              <p:nvPr/>
            </p:nvPicPr>
            <p:blipFill>
              <a:blip r:embed="rId5"/>
              <a:stretch>
                <a:fillRect/>
              </a:stretch>
            </p:blipFill>
            <p:spPr>
              <a:xfrm>
                <a:off x="2587592" y="2017851"/>
                <a:ext cx="2520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9" name="Ink 18">
                <a:extLst>
                  <a:ext uri="{FF2B5EF4-FFF2-40B4-BE49-F238E27FC236}">
                    <a16:creationId xmlns:a16="http://schemas.microsoft.com/office/drawing/2014/main" id="{8D01938F-3D1A-E2EE-9B94-992C382EFB06}"/>
                  </a:ext>
                </a:extLst>
              </p14:cNvPr>
              <p14:cNvContentPartPr/>
              <p14:nvPr/>
            </p14:nvContentPartPr>
            <p14:xfrm>
              <a:off x="2752472" y="1875291"/>
              <a:ext cx="360" cy="360"/>
            </p14:xfrm>
          </p:contentPart>
        </mc:Choice>
        <mc:Fallback xmlns="">
          <p:pic>
            <p:nvPicPr>
              <p:cNvPr id="19" name="Ink 18">
                <a:extLst>
                  <a:ext uri="{FF2B5EF4-FFF2-40B4-BE49-F238E27FC236}">
                    <a16:creationId xmlns:a16="http://schemas.microsoft.com/office/drawing/2014/main" id="{8D01938F-3D1A-E2EE-9B94-992C382EFB06}"/>
                  </a:ext>
                </a:extLst>
              </p:cNvPr>
              <p:cNvPicPr/>
              <p:nvPr/>
            </p:nvPicPr>
            <p:blipFill>
              <a:blip r:embed="rId7"/>
              <a:stretch>
                <a:fillRect/>
              </a:stretch>
            </p:blipFill>
            <p:spPr>
              <a:xfrm>
                <a:off x="2689472" y="181229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 name="Ink 19">
                <a:extLst>
                  <a:ext uri="{FF2B5EF4-FFF2-40B4-BE49-F238E27FC236}">
                    <a16:creationId xmlns:a16="http://schemas.microsoft.com/office/drawing/2014/main" id="{89C2E366-9596-E7D9-A20B-2DCEB78FBF82}"/>
                  </a:ext>
                </a:extLst>
              </p14:cNvPr>
              <p14:cNvContentPartPr/>
              <p14:nvPr/>
            </p14:nvContentPartPr>
            <p14:xfrm>
              <a:off x="2704952" y="1802211"/>
              <a:ext cx="315000" cy="370080"/>
            </p14:xfrm>
          </p:contentPart>
        </mc:Choice>
        <mc:Fallback xmlns="">
          <p:pic>
            <p:nvPicPr>
              <p:cNvPr id="20" name="Ink 19">
                <a:extLst>
                  <a:ext uri="{FF2B5EF4-FFF2-40B4-BE49-F238E27FC236}">
                    <a16:creationId xmlns:a16="http://schemas.microsoft.com/office/drawing/2014/main" id="{89C2E366-9596-E7D9-A20B-2DCEB78FBF82}"/>
                  </a:ext>
                </a:extLst>
              </p:cNvPr>
              <p:cNvPicPr/>
              <p:nvPr/>
            </p:nvPicPr>
            <p:blipFill>
              <a:blip r:embed="rId9"/>
              <a:stretch>
                <a:fillRect/>
              </a:stretch>
            </p:blipFill>
            <p:spPr>
              <a:xfrm>
                <a:off x="2642312" y="1739571"/>
                <a:ext cx="440640" cy="495720"/>
              </a:xfrm>
              <a:prstGeom prst="rect">
                <a:avLst/>
              </a:prstGeom>
            </p:spPr>
          </p:pic>
        </mc:Fallback>
      </mc:AlternateContent>
      <p:pic>
        <p:nvPicPr>
          <p:cNvPr id="21" name="Picture 20" descr="Equation_Slide_2.png"/>
          <p:cNvPicPr>
            <a:picLocks noChangeAspect="1"/>
          </p:cNvPicPr>
          <p:nvPr/>
        </p:nvPicPr>
        <p:blipFill>
          <a:blip r:embed="rId10"/>
          <a:stretch>
            <a:fillRect/>
          </a:stretch>
        </p:blipFill>
        <p:spPr>
          <a:xfrm>
            <a:off x="7721083" y="5430783"/>
            <a:ext cx="3886200" cy="645109"/>
          </a:xfrm>
          <a:prstGeom prst="rect">
            <a:avLst/>
          </a:prstGeom>
        </p:spPr>
      </p:pic>
      <p:sp>
        <p:nvSpPr>
          <p:cNvPr id="22" name="Oval 21"/>
          <p:cNvSpPr/>
          <p:nvPr/>
        </p:nvSpPr>
        <p:spPr>
          <a:xfrm>
            <a:off x="7538203" y="1535439"/>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538203" y="2980191"/>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38203" y="4388367"/>
            <a:ext cx="210312" cy="210312"/>
          </a:xfrm>
          <a:prstGeom prst="ellipse">
            <a:avLst/>
          </a:prstGeom>
          <a:solidFill>
            <a:srgbClr val="22B4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92608"/>
            <a:ext cx="10058400" cy="228600"/>
          </a:xfrm>
          <a:prstGeom prst="rect">
            <a:avLst/>
          </a:prstGeom>
          <a:noFill/>
        </p:spPr>
        <p:txBody>
          <a:bodyPr wrap="square">
            <a:spAutoFit/>
          </a:bodyPr>
          <a:lstStyle/>
          <a:p>
            <a:pPr>
              <a:defRPr sz="1000" b="1">
                <a:solidFill>
                  <a:srgbClr val="168D83"/>
                </a:solidFill>
                <a:latin typeface="Aptos Display"/>
              </a:defRPr>
            </a:pPr>
            <a:r>
              <a:t>08  •  IMPACT</a:t>
            </a:r>
          </a:p>
        </p:txBody>
      </p:sp>
      <p:sp>
        <p:nvSpPr>
          <p:cNvPr id="4" name="TextBox 3"/>
          <p:cNvSpPr txBox="1"/>
          <p:nvPr/>
        </p:nvSpPr>
        <p:spPr>
          <a:xfrm>
            <a:off x="502920" y="704088"/>
            <a:ext cx="11064240" cy="685800"/>
          </a:xfrm>
          <a:prstGeom prst="rect">
            <a:avLst/>
          </a:prstGeom>
          <a:noFill/>
        </p:spPr>
        <p:txBody>
          <a:bodyPr wrap="square">
            <a:spAutoFit/>
          </a:bodyPr>
          <a:lstStyle/>
          <a:p>
            <a:pPr>
              <a:defRPr sz="3000" b="1">
                <a:solidFill>
                  <a:srgbClr val="143943"/>
                </a:solidFill>
                <a:latin typeface="Aptos Display"/>
              </a:defRPr>
            </a:pPr>
            <a:r>
              <a:t>From observation to action</a:t>
            </a:r>
          </a:p>
        </p:txBody>
      </p:sp>
      <p:sp>
        <p:nvSpPr>
          <p:cNvPr id="5" name="Rectangle 4"/>
          <p:cNvSpPr/>
          <p:nvPr/>
        </p:nvSpPr>
        <p:spPr>
          <a:xfrm>
            <a:off x="502920" y="6473952"/>
            <a:ext cx="11155680" cy="10972"/>
          </a:xfrm>
          <a:prstGeom prst="rect">
            <a:avLst/>
          </a:prstGeom>
          <a:solidFill>
            <a:srgbClr val="88BD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28816"/>
            <a:ext cx="9144000" cy="182880"/>
          </a:xfrm>
          <a:prstGeom prst="rect">
            <a:avLst/>
          </a:prstGeom>
          <a:noFill/>
        </p:spPr>
        <p:txBody>
          <a:bodyPr wrap="square">
            <a:spAutoFit/>
          </a:bodyPr>
          <a:lstStyle/>
          <a:p>
            <a:pPr>
              <a:defRPr sz="900" b="0">
                <a:solidFill>
                  <a:srgbClr val="143943"/>
                </a:solidFill>
                <a:latin typeface="Aptos"/>
              </a:defRPr>
            </a:pPr>
            <a:r>
              <a:t>AQUASPECTRA  •  ARAB YOUTH SPACE HACKATHON 2026</a:t>
            </a:r>
          </a:p>
        </p:txBody>
      </p:sp>
      <p:sp>
        <p:nvSpPr>
          <p:cNvPr id="7" name="TextBox 6"/>
          <p:cNvSpPr txBox="1"/>
          <p:nvPr/>
        </p:nvSpPr>
        <p:spPr>
          <a:xfrm>
            <a:off x="11155680" y="6510528"/>
            <a:ext cx="457200" cy="201168"/>
          </a:xfrm>
          <a:prstGeom prst="rect">
            <a:avLst/>
          </a:prstGeom>
          <a:noFill/>
        </p:spPr>
        <p:txBody>
          <a:bodyPr wrap="square">
            <a:spAutoFit/>
          </a:bodyPr>
          <a:lstStyle/>
          <a:p>
            <a:pPr>
              <a:defRPr sz="1000" b="1">
                <a:solidFill>
                  <a:srgbClr val="168D83"/>
                </a:solidFill>
                <a:latin typeface="Aptos Display"/>
              </a:defRPr>
            </a:pPr>
            <a:r>
              <a:t>09</a:t>
            </a:r>
          </a:p>
        </p:txBody>
      </p:sp>
      <p:sp>
        <p:nvSpPr>
          <p:cNvPr id="8" name="Rounded Rectangle 7"/>
          <p:cNvSpPr/>
          <p:nvPr/>
        </p:nvSpPr>
        <p:spPr>
          <a:xfrm>
            <a:off x="640080" y="1965960"/>
            <a:ext cx="3429000" cy="196596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2167128"/>
            <a:ext cx="3099816" cy="384048"/>
          </a:xfrm>
          <a:prstGeom prst="rect">
            <a:avLst/>
          </a:prstGeom>
          <a:noFill/>
        </p:spPr>
        <p:txBody>
          <a:bodyPr wrap="square">
            <a:spAutoFit/>
          </a:bodyPr>
          <a:lstStyle/>
          <a:p>
            <a:pPr>
              <a:defRPr sz="1900" b="1">
                <a:solidFill>
                  <a:srgbClr val="FFFFFF"/>
                </a:solidFill>
                <a:latin typeface="Aptos Display"/>
              </a:defRPr>
            </a:pPr>
            <a:r>
              <a:t>TODAY</a:t>
            </a:r>
          </a:p>
        </p:txBody>
      </p:sp>
      <p:sp>
        <p:nvSpPr>
          <p:cNvPr id="10" name="TextBox 9"/>
          <p:cNvSpPr txBox="1"/>
          <p:nvPr/>
        </p:nvSpPr>
        <p:spPr>
          <a:xfrm>
            <a:off x="804671" y="2670048"/>
            <a:ext cx="3099816" cy="1188719"/>
          </a:xfrm>
          <a:prstGeom prst="rect">
            <a:avLst/>
          </a:prstGeom>
          <a:noFill/>
        </p:spPr>
        <p:txBody>
          <a:bodyPr wrap="square">
            <a:spAutoFit/>
          </a:bodyPr>
          <a:lstStyle/>
          <a:p>
            <a:pPr>
              <a:defRPr sz="1500" b="0">
                <a:solidFill>
                  <a:srgbClr val="FFFFFF"/>
                </a:solidFill>
                <a:latin typeface="Aptos"/>
              </a:defRPr>
            </a:pPr>
            <a:r>
              <a:t>Transparent spatial prioritization</a:t>
            </a:r>
          </a:p>
        </p:txBody>
      </p:sp>
      <p:sp>
        <p:nvSpPr>
          <p:cNvPr id="11" name="Rounded Rectangle 10"/>
          <p:cNvSpPr/>
          <p:nvPr/>
        </p:nvSpPr>
        <p:spPr>
          <a:xfrm>
            <a:off x="4498848" y="1965960"/>
            <a:ext cx="3429000" cy="1965960"/>
          </a:xfrm>
          <a:prstGeom prst="roundRect">
            <a:avLst/>
          </a:prstGeom>
          <a:solidFill>
            <a:srgbClr val="168D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167128"/>
            <a:ext cx="3099816" cy="384048"/>
          </a:xfrm>
          <a:prstGeom prst="rect">
            <a:avLst/>
          </a:prstGeom>
          <a:noFill/>
        </p:spPr>
        <p:txBody>
          <a:bodyPr wrap="square">
            <a:spAutoFit/>
          </a:bodyPr>
          <a:lstStyle/>
          <a:p>
            <a:pPr>
              <a:defRPr sz="1900" b="1">
                <a:solidFill>
                  <a:srgbClr val="FFFFFF"/>
                </a:solidFill>
                <a:latin typeface="Aptos Display"/>
              </a:defRPr>
            </a:pPr>
            <a:r>
              <a:t>NEXT</a:t>
            </a:r>
          </a:p>
        </p:txBody>
      </p:sp>
      <p:sp>
        <p:nvSpPr>
          <p:cNvPr id="13" name="TextBox 12"/>
          <p:cNvSpPr txBox="1"/>
          <p:nvPr/>
        </p:nvSpPr>
        <p:spPr>
          <a:xfrm>
            <a:off x="4663440" y="2670048"/>
            <a:ext cx="3099816" cy="1188719"/>
          </a:xfrm>
          <a:prstGeom prst="rect">
            <a:avLst/>
          </a:prstGeom>
          <a:noFill/>
        </p:spPr>
        <p:txBody>
          <a:bodyPr wrap="square">
            <a:spAutoFit/>
          </a:bodyPr>
          <a:lstStyle/>
          <a:p>
            <a:pPr>
              <a:defRPr sz="1500" b="0">
                <a:solidFill>
                  <a:srgbClr val="FFFFFF"/>
                </a:solidFill>
                <a:latin typeface="Aptos"/>
              </a:defRPr>
            </a:pPr>
            <a:r>
              <a:t>Field validation + stronger quality checks</a:t>
            </a:r>
          </a:p>
        </p:txBody>
      </p:sp>
      <p:sp>
        <p:nvSpPr>
          <p:cNvPr id="14" name="Rounded Rectangle 13"/>
          <p:cNvSpPr/>
          <p:nvPr/>
        </p:nvSpPr>
        <p:spPr>
          <a:xfrm>
            <a:off x="8357615" y="1965960"/>
            <a:ext cx="3429000" cy="1965960"/>
          </a:xfrm>
          <a:prstGeom prst="roundRect">
            <a:avLst/>
          </a:prstGeom>
          <a:solidFill>
            <a:srgbClr val="1439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22207" y="2167128"/>
            <a:ext cx="3099816" cy="384048"/>
          </a:xfrm>
          <a:prstGeom prst="rect">
            <a:avLst/>
          </a:prstGeom>
          <a:noFill/>
        </p:spPr>
        <p:txBody>
          <a:bodyPr wrap="square">
            <a:spAutoFit/>
          </a:bodyPr>
          <a:lstStyle/>
          <a:p>
            <a:pPr>
              <a:defRPr sz="1900" b="1">
                <a:solidFill>
                  <a:srgbClr val="FFFFFF"/>
                </a:solidFill>
                <a:latin typeface="Aptos Display"/>
              </a:defRPr>
            </a:pPr>
            <a:r>
              <a:t>FUTURE</a:t>
            </a:r>
          </a:p>
        </p:txBody>
      </p:sp>
      <p:sp>
        <p:nvSpPr>
          <p:cNvPr id="16" name="TextBox 15"/>
          <p:cNvSpPr txBox="1"/>
          <p:nvPr/>
        </p:nvSpPr>
        <p:spPr>
          <a:xfrm>
            <a:off x="8522207" y="2670048"/>
            <a:ext cx="3099816" cy="1188719"/>
          </a:xfrm>
          <a:prstGeom prst="rect">
            <a:avLst/>
          </a:prstGeom>
          <a:noFill/>
        </p:spPr>
        <p:txBody>
          <a:bodyPr wrap="square">
            <a:spAutoFit/>
          </a:bodyPr>
          <a:lstStyle/>
          <a:p>
            <a:pPr>
              <a:defRPr sz="1500" b="0">
                <a:solidFill>
                  <a:srgbClr val="FFFFFF"/>
                </a:solidFill>
                <a:latin typeface="Aptos"/>
              </a:defRPr>
            </a:pPr>
            <a:r>
              <a:t>Operational decision support</a:t>
            </a:r>
          </a:p>
        </p:txBody>
      </p:sp>
      <p:sp>
        <p:nvSpPr>
          <p:cNvPr id="17" name="TextBox 16"/>
          <p:cNvSpPr txBox="1"/>
          <p:nvPr/>
        </p:nvSpPr>
        <p:spPr>
          <a:xfrm>
            <a:off x="731520" y="4846320"/>
            <a:ext cx="10698480" cy="914400"/>
          </a:xfrm>
          <a:prstGeom prst="rect">
            <a:avLst/>
          </a:prstGeom>
          <a:noFill/>
        </p:spPr>
        <p:txBody>
          <a:bodyPr wrap="square">
            <a:spAutoFit/>
          </a:bodyPr>
          <a:lstStyle/>
          <a:p>
            <a:pPr algn="ctr">
              <a:defRPr sz="2500" b="1">
                <a:solidFill>
                  <a:srgbClr val="168D83"/>
                </a:solidFill>
                <a:latin typeface="Aptos Display"/>
              </a:defRPr>
            </a:pPr>
            <a:r>
              <a:t>AquaSpectra helps turn observations into better questions — and more focused action.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2439"/>
        </a:solidFill>
        <a:effectLst/>
      </p:bgPr>
    </p:bg>
    <p:spTree>
      <p:nvGrpSpPr>
        <p:cNvPr id="1" name=""/>
        <p:cNvGrpSpPr/>
        <p:nvPr/>
      </p:nvGrpSpPr>
      <p:grpSpPr>
        <a:xfrm>
          <a:off x="0" y="0"/>
          <a:ext cx="0" cy="0"/>
          <a:chOff x="0" y="0"/>
          <a:chExt cx="0" cy="0"/>
        </a:xfrm>
      </p:grpSpPr>
      <p:sp>
        <p:nvSpPr>
          <p:cNvPr id="2" name="TextBox 1"/>
          <p:cNvSpPr txBox="1"/>
          <p:nvPr/>
        </p:nvSpPr>
        <p:spPr>
          <a:xfrm>
            <a:off x="502920" y="310896"/>
            <a:ext cx="10058400" cy="274320"/>
          </a:xfrm>
          <a:prstGeom prst="rect">
            <a:avLst/>
          </a:prstGeom>
          <a:noFill/>
        </p:spPr>
        <p:txBody>
          <a:bodyPr wrap="square">
            <a:spAutoFit/>
          </a:bodyPr>
          <a:lstStyle/>
          <a:p>
            <a:r>
              <a:rPr sz="1200" b="1">
                <a:solidFill>
                  <a:srgbClr val="3FD9CD"/>
                </a:solidFill>
              </a:rPr>
              <a:t>09  •  EXPLORATORY MACHINE LEARNING</a:t>
            </a:r>
          </a:p>
        </p:txBody>
      </p:sp>
      <p:sp>
        <p:nvSpPr>
          <p:cNvPr id="3" name="TextBox 2"/>
          <p:cNvSpPr txBox="1"/>
          <p:nvPr/>
        </p:nvSpPr>
        <p:spPr>
          <a:xfrm>
            <a:off x="502920" y="731520"/>
            <a:ext cx="10972800" cy="640080"/>
          </a:xfrm>
          <a:prstGeom prst="rect">
            <a:avLst/>
          </a:prstGeom>
          <a:noFill/>
        </p:spPr>
        <p:txBody>
          <a:bodyPr wrap="square">
            <a:spAutoFit/>
          </a:bodyPr>
          <a:lstStyle/>
          <a:p>
            <a:r>
              <a:rPr sz="2900" b="1">
                <a:solidFill>
                  <a:srgbClr val="FFFFFF"/>
                </a:solidFill>
              </a:rPr>
              <a:t>Three methods, one coastal dataset</a:t>
            </a:r>
          </a:p>
        </p:txBody>
      </p:sp>
      <p:sp>
        <p:nvSpPr>
          <p:cNvPr id="4" name="Rounded Rectangle 3"/>
          <p:cNvSpPr/>
          <p:nvPr/>
        </p:nvSpPr>
        <p:spPr>
          <a:xfrm>
            <a:off x="502920" y="1481328"/>
            <a:ext cx="11155680" cy="34015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L_Three_Methods_Comparison.png"/>
          <p:cNvPicPr>
            <a:picLocks noChangeAspect="1"/>
          </p:cNvPicPr>
          <p:nvPr/>
        </p:nvPicPr>
        <p:blipFill>
          <a:blip r:embed="rId3"/>
          <a:stretch>
            <a:fillRect/>
          </a:stretch>
        </p:blipFill>
        <p:spPr>
          <a:xfrm>
            <a:off x="676656" y="1709928"/>
            <a:ext cx="10808208" cy="3004267"/>
          </a:xfrm>
          <a:prstGeom prst="rect">
            <a:avLst/>
          </a:prstGeom>
        </p:spPr>
      </p:pic>
      <p:sp>
        <p:nvSpPr>
          <p:cNvPr id="6" name="TextBox 5"/>
          <p:cNvSpPr txBox="1"/>
          <p:nvPr/>
        </p:nvSpPr>
        <p:spPr>
          <a:xfrm>
            <a:off x="621792" y="5102352"/>
            <a:ext cx="10881360" cy="731520"/>
          </a:xfrm>
          <a:prstGeom prst="rect">
            <a:avLst/>
          </a:prstGeom>
          <a:noFill/>
        </p:spPr>
        <p:txBody>
          <a:bodyPr wrap="square">
            <a:spAutoFit/>
          </a:bodyPr>
          <a:lstStyle/>
          <a:p>
            <a:r>
              <a:rPr sz="1600" b="1">
                <a:solidFill>
                  <a:srgbClr val="FFFFFF"/>
                </a:solidFill>
              </a:rPr>
              <a:t>NDCI: 344 pixels   |   Isolation Forest: 344 (155 overlap)   |   K-means: 1,286 (344 overlap)</a:t>
            </a:r>
          </a:p>
        </p:txBody>
      </p:sp>
      <p:sp>
        <p:nvSpPr>
          <p:cNvPr id="7" name="TextBox 6"/>
          <p:cNvSpPr txBox="1"/>
          <p:nvPr/>
        </p:nvSpPr>
        <p:spPr>
          <a:xfrm>
            <a:off x="621792" y="5907024"/>
            <a:ext cx="10789920" cy="292608"/>
          </a:xfrm>
          <a:prstGeom prst="rect">
            <a:avLst/>
          </a:prstGeom>
          <a:noFill/>
        </p:spPr>
        <p:txBody>
          <a:bodyPr wrap="square">
            <a:spAutoFit/>
          </a:bodyPr>
          <a:lstStyle/>
          <a:p>
            <a:r>
              <a:rPr sz="1200" b="0">
                <a:solidFill>
                  <a:srgbClr val="3FD9CD"/>
                </a:solidFill>
              </a:rPr>
              <a:t>Agreement is not detection accuracy — field validation remains necessary.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A33"/>
        </a:solidFill>
        <a:effectLst/>
      </p:bgPr>
    </p:bg>
    <p:spTree>
      <p:nvGrpSpPr>
        <p:cNvPr id="1" name=""/>
        <p:cNvGrpSpPr/>
        <p:nvPr/>
      </p:nvGrpSpPr>
      <p:grpSpPr>
        <a:xfrm>
          <a:off x="0" y="0"/>
          <a:ext cx="0" cy="0"/>
          <a:chOff x="0" y="0"/>
          <a:chExt cx="0" cy="0"/>
        </a:xfrm>
      </p:grpSpPr>
      <p:sp>
        <p:nvSpPr>
          <p:cNvPr id="2" name="Rectangle 1"/>
          <p:cNvSpPr/>
          <p:nvPr/>
        </p:nvSpPr>
        <p:spPr>
          <a:xfrm>
            <a:off x="1917814" y="2085917"/>
            <a:ext cx="1709928" cy="50292"/>
          </a:xfrm>
          <a:prstGeom prst="rect">
            <a:avLst/>
          </a:prstGeom>
          <a:solidFill>
            <a:srgbClr val="30B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566928"/>
            <a:ext cx="9445752" cy="365760"/>
          </a:xfrm>
          <a:prstGeom prst="rect">
            <a:avLst/>
          </a:prstGeom>
          <a:noFill/>
        </p:spPr>
        <p:txBody>
          <a:bodyPr wrap="square" lIns="0" tIns="0" rIns="0" bIns="0">
            <a:spAutoFit/>
          </a:bodyPr>
          <a:lstStyle/>
          <a:p>
            <a:pPr algn="ctr"/>
            <a:r>
              <a:rPr sz="1200" b="1">
                <a:solidFill>
                  <a:srgbClr val="30BFAE"/>
                </a:solidFill>
                <a:latin typeface="Aptos Display"/>
              </a:rPr>
              <a:t>AQUASPECTRA  •  ARAB YOUTH SPACE HACKATHON 2026</a:t>
            </a:r>
          </a:p>
        </p:txBody>
      </p:sp>
      <p:sp>
        <p:nvSpPr>
          <p:cNvPr id="4" name="TextBox 3"/>
          <p:cNvSpPr txBox="1"/>
          <p:nvPr/>
        </p:nvSpPr>
        <p:spPr>
          <a:xfrm>
            <a:off x="-1950098" y="2811799"/>
            <a:ext cx="9445752" cy="754053"/>
          </a:xfrm>
          <a:prstGeom prst="rect">
            <a:avLst/>
          </a:prstGeom>
          <a:noFill/>
        </p:spPr>
        <p:txBody>
          <a:bodyPr wrap="square" lIns="0" tIns="0" rIns="0" bIns="0">
            <a:spAutoFit/>
          </a:bodyPr>
          <a:lstStyle/>
          <a:p>
            <a:pPr algn="ctr"/>
            <a:r>
              <a:rPr lang="en-US" sz="4900" b="1" dirty="0">
                <a:solidFill>
                  <a:srgbClr val="F8F8F1"/>
                </a:solidFill>
                <a:latin typeface="Aptos Display"/>
              </a:rPr>
              <a:t>Thank You</a:t>
            </a:r>
            <a:endParaRPr sz="4900" b="1" dirty="0">
              <a:solidFill>
                <a:srgbClr val="F8F8F1"/>
              </a:solidFill>
              <a:latin typeface="Aptos Display"/>
            </a:endParaRPr>
          </a:p>
        </p:txBody>
      </p:sp>
      <p:sp>
        <p:nvSpPr>
          <p:cNvPr id="5" name="TextBox 4"/>
          <p:cNvSpPr txBox="1"/>
          <p:nvPr/>
        </p:nvSpPr>
        <p:spPr>
          <a:xfrm>
            <a:off x="-1858658" y="3743692"/>
            <a:ext cx="9262872" cy="369332"/>
          </a:xfrm>
          <a:prstGeom prst="rect">
            <a:avLst/>
          </a:prstGeom>
          <a:noFill/>
        </p:spPr>
        <p:txBody>
          <a:bodyPr wrap="square" lIns="0" tIns="0" rIns="0" bIns="0">
            <a:spAutoFit/>
          </a:bodyPr>
          <a:lstStyle/>
          <a:p>
            <a:pPr algn="ctr"/>
            <a:r>
              <a:rPr lang="en-US" sz="2200" b="0" dirty="0">
                <a:solidFill>
                  <a:srgbClr val="F8F8F1"/>
                </a:solidFill>
                <a:latin typeface="Aptos Display"/>
              </a:rPr>
              <a:t>Any </a:t>
            </a:r>
            <a:r>
              <a:rPr lang="en-GB" sz="2400" b="0" dirty="0">
                <a:solidFill>
                  <a:srgbClr val="F8F8F1"/>
                </a:solidFill>
                <a:latin typeface="Aptos Display"/>
              </a:rPr>
              <a:t>q</a:t>
            </a:r>
            <a:r>
              <a:rPr lang="en-GB" sz="2400" dirty="0">
                <a:solidFill>
                  <a:srgbClr val="F8F8F1"/>
                </a:solidFill>
                <a:latin typeface="Aptos Display"/>
              </a:rPr>
              <a:t>uestions?</a:t>
            </a:r>
            <a:endParaRPr sz="2200" b="0" dirty="0">
              <a:solidFill>
                <a:srgbClr val="F8F8F1"/>
              </a:solidFill>
              <a:latin typeface="Aptos Display"/>
            </a:endParaRPr>
          </a:p>
        </p:txBody>
      </p:sp>
      <p:sp>
        <p:nvSpPr>
          <p:cNvPr id="8" name="TextBox 7"/>
          <p:cNvSpPr txBox="1"/>
          <p:nvPr/>
        </p:nvSpPr>
        <p:spPr>
          <a:xfrm>
            <a:off x="1828800" y="6318504"/>
            <a:ext cx="8531352" cy="246888"/>
          </a:xfrm>
          <a:prstGeom prst="rect">
            <a:avLst/>
          </a:prstGeom>
          <a:noFill/>
        </p:spPr>
        <p:txBody>
          <a:bodyPr wrap="square" lIns="0" tIns="0" rIns="0" bIns="0">
            <a:spAutoFit/>
          </a:bodyPr>
          <a:lstStyle/>
          <a:p>
            <a:pPr algn="ctr"/>
            <a:r>
              <a:rPr sz="1000" b="0">
                <a:solidFill>
                  <a:srgbClr val="30BFAE"/>
                </a:solidFill>
                <a:latin typeface="Aptos Display"/>
              </a:rPr>
              <a:t>TEAM AQUASPECTRA  •  CHALLENGE 813</a:t>
            </a:r>
          </a:p>
        </p:txBody>
      </p:sp>
      <p:sp>
        <p:nvSpPr>
          <p:cNvPr id="11" name="Rectangle 10">
            <a:extLst>
              <a:ext uri="{FF2B5EF4-FFF2-40B4-BE49-F238E27FC236}">
                <a16:creationId xmlns:a16="http://schemas.microsoft.com/office/drawing/2014/main" id="{61D4DBE0-2538-0BC5-EB2E-E6F3B65FD6F8}"/>
              </a:ext>
            </a:extLst>
          </p:cNvPr>
          <p:cNvSpPr/>
          <p:nvPr/>
        </p:nvSpPr>
        <p:spPr>
          <a:xfrm>
            <a:off x="1917814" y="4866740"/>
            <a:ext cx="1709928" cy="50292"/>
          </a:xfrm>
          <a:prstGeom prst="rect">
            <a:avLst/>
          </a:prstGeom>
          <a:solidFill>
            <a:srgbClr val="30BF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 Satellite With Solar Panel On Transparent Background, Satellite, Solar Panel, Panel PNG Transparent Image and">
            <a:extLst>
              <a:ext uri="{FF2B5EF4-FFF2-40B4-BE49-F238E27FC236}">
                <a16:creationId xmlns:a16="http://schemas.microsoft.com/office/drawing/2014/main" id="{DCD0832A-3C9D-4430-A8C1-A4DA5E205618}"/>
              </a:ext>
            </a:extLst>
          </p:cNvPr>
          <p:cNvPicPr>
            <a:picLocks noChangeAspect="1"/>
          </p:cNvPicPr>
          <p:nvPr/>
        </p:nvPicPr>
        <p:blipFill>
          <a:blip r:embed="rId3"/>
          <a:srcRect/>
          <a:stretch>
            <a:fillRect/>
          </a:stretch>
        </p:blipFill>
        <p:spPr>
          <a:xfrm>
            <a:off x="5638180" y="699517"/>
            <a:ext cx="5852159" cy="58521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911</Words>
  <Application>Microsoft Office PowerPoint</Application>
  <PresentationFormat>Widescreen</PresentationFormat>
  <Paragraphs>125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Aya Obaid</dc:creator>
  <cp:keywords/>
  <dc:description>generated using python-pptx</dc:description>
  <cp:lastModifiedBy>Ayah Wadee Ghazi Obaid</cp:lastModifiedBy>
  <cp:revision>4</cp:revision>
  <dcterms:created xsi:type="dcterms:W3CDTF">2013-01-27T09:14:16Z</dcterms:created>
  <dcterms:modified xsi:type="dcterms:W3CDTF">2026-10-10T13:35:38Z</dcterms:modified>
  <cp:category/>
</cp:coreProperties>
</file>